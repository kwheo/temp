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603" r:id="rId3"/>
    <p:sldId id="575" r:id="rId4"/>
    <p:sldId id="609" r:id="rId5"/>
    <p:sldId id="604" r:id="rId6"/>
    <p:sldId id="605" r:id="rId7"/>
    <p:sldId id="606" r:id="rId8"/>
    <p:sldId id="607" r:id="rId9"/>
    <p:sldId id="602" r:id="rId10"/>
    <p:sldId id="610" r:id="rId11"/>
    <p:sldId id="611" r:id="rId12"/>
    <p:sldId id="612" r:id="rId13"/>
    <p:sldId id="613" r:id="rId14"/>
    <p:sldId id="614" r:id="rId15"/>
    <p:sldId id="615" r:id="rId16"/>
    <p:sldId id="616" r:id="rId17"/>
    <p:sldId id="617" r:id="rId18"/>
    <p:sldId id="618" r:id="rId19"/>
    <p:sldId id="619" r:id="rId20"/>
    <p:sldId id="620" r:id="rId21"/>
    <p:sldId id="608" r:id="rId22"/>
  </p:sldIdLst>
  <p:sldSz cx="9144000" cy="6858000" type="screen4x3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4935"/>
    <a:srgbClr val="FFDA1F"/>
    <a:srgbClr val="F8F9FB"/>
    <a:srgbClr val="9CA34E"/>
    <a:srgbClr val="FF6C79"/>
    <a:srgbClr val="FFD13F"/>
    <a:srgbClr val="F97B13"/>
    <a:srgbClr val="F1F1EF"/>
    <a:srgbClr val="F4374B"/>
    <a:srgbClr val="97DA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3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96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-3762" y="-78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016D24-9262-4317-9603-998C7CC58B8C}" type="datetimeFigureOut">
              <a:rPr lang="ko-KR" altLang="en-US" smtClean="0"/>
              <a:t>2025-09-10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8675F-63D8-405E-A338-66097ECAC1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4161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5BFDE-C47D-4F0C-9005-D9C28FF82CB5}" type="datetimeFigureOut">
              <a:rPr lang="ko-KR" altLang="en-US" smtClean="0"/>
              <a:t>2025-09-10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63900" y="509588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28896"/>
            <a:ext cx="794131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243EA-EAD3-4938-9A61-A38717A167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81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3" r="81148" b="48194"/>
          <a:stretch/>
        </p:blipFill>
        <p:spPr>
          <a:xfrm>
            <a:off x="676274" y="283"/>
            <a:ext cx="1047751" cy="35525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40" r="54375" b="50556"/>
          <a:stretch/>
        </p:blipFill>
        <p:spPr>
          <a:xfrm>
            <a:off x="2609850" y="283"/>
            <a:ext cx="1562100" cy="339061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6" t="58334" r="43124" b="14858"/>
          <a:stretch/>
        </p:blipFill>
        <p:spPr>
          <a:xfrm>
            <a:off x="571500" y="4000500"/>
            <a:ext cx="4629150" cy="183832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" t="48889" r="41665"/>
          <a:stretch/>
        </p:blipFill>
        <p:spPr>
          <a:xfrm>
            <a:off x="762000" y="3352799"/>
            <a:ext cx="4572000" cy="350491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72" r="67918" b="30276"/>
          <a:stretch/>
        </p:blipFill>
        <p:spPr>
          <a:xfrm>
            <a:off x="1543050" y="283"/>
            <a:ext cx="1390650" cy="478126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67" t="50278" r="83857" b="28887"/>
          <a:stretch/>
        </p:blipFill>
        <p:spPr>
          <a:xfrm>
            <a:off x="619124" y="3448050"/>
            <a:ext cx="857251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57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FFD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 userDrawn="1"/>
        </p:nvSpPr>
        <p:spPr>
          <a:xfrm>
            <a:off x="3600451" y="0"/>
            <a:ext cx="5543550" cy="6858000"/>
          </a:xfrm>
          <a:prstGeom prst="rect">
            <a:avLst/>
          </a:prstGeom>
          <a:solidFill>
            <a:schemeClr val="bg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13" name="직사각형 12"/>
          <p:cNvSpPr/>
          <p:nvPr userDrawn="1"/>
        </p:nvSpPr>
        <p:spPr>
          <a:xfrm>
            <a:off x="3667125" y="44624"/>
            <a:ext cx="5431854" cy="6768752"/>
          </a:xfrm>
          <a:prstGeom prst="rect">
            <a:avLst/>
          </a:prstGeom>
          <a:gradFill>
            <a:gsLst>
              <a:gs pos="0">
                <a:schemeClr val="bg1">
                  <a:alpha val="32000"/>
                </a:schemeClr>
              </a:gs>
              <a:gs pos="54000">
                <a:schemeClr val="bg1">
                  <a:lumMod val="8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" t="48889" r="41665"/>
          <a:stretch/>
        </p:blipFill>
        <p:spPr>
          <a:xfrm>
            <a:off x="127000" y="3891771"/>
            <a:ext cx="3868936" cy="296594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3284984"/>
            <a:ext cx="1064466" cy="18002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59769">
            <a:off x="944708" y="2314647"/>
            <a:ext cx="883847" cy="11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57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bg>
      <p:bgPr>
        <a:solidFill>
          <a:srgbClr val="FFD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LOGO.pn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t="45187"/>
          <a:stretch/>
        </p:blipFill>
        <p:spPr>
          <a:xfrm>
            <a:off x="8203150" y="295275"/>
            <a:ext cx="656150" cy="223870"/>
          </a:xfrm>
          <a:prstGeom prst="rect">
            <a:avLst/>
          </a:prstGeom>
          <a:effectLst/>
        </p:spPr>
      </p:pic>
      <p:pic>
        <p:nvPicPr>
          <p:cNvPr id="2" name="그림 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3450617"/>
            <a:ext cx="4364375" cy="340738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304" y="2852936"/>
            <a:ext cx="1243481" cy="210294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853" b="31603"/>
          <a:stretch/>
        </p:blipFill>
        <p:spPr>
          <a:xfrm>
            <a:off x="3707904" y="3501008"/>
            <a:ext cx="1025996" cy="191363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14" t="72482" r="62097" b="-4256"/>
          <a:stretch/>
        </p:blipFill>
        <p:spPr>
          <a:xfrm>
            <a:off x="2987824" y="5661248"/>
            <a:ext cx="888999" cy="888999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87" t="18012" r="-4103" b="25249"/>
          <a:stretch/>
        </p:blipFill>
        <p:spPr>
          <a:xfrm>
            <a:off x="7164288" y="2636912"/>
            <a:ext cx="10795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98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 userDrawn="1"/>
        </p:nvSpPr>
        <p:spPr>
          <a:xfrm>
            <a:off x="0" y="822960"/>
            <a:ext cx="9143245" cy="6035040"/>
          </a:xfrm>
          <a:prstGeom prst="rect">
            <a:avLst/>
          </a:prstGeom>
          <a:solidFill>
            <a:srgbClr val="FFD13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21528"/>
            <a:ext cx="9143245" cy="770784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0" y="0"/>
            <a:ext cx="9144000" cy="825500"/>
          </a:xfrm>
          <a:prstGeom prst="rect">
            <a:avLst/>
          </a:prstGeom>
          <a:pattFill prst="openDmnd">
            <a:fgClr>
              <a:schemeClr val="bg1">
                <a:lumMod val="85000"/>
              </a:schemeClr>
            </a:fgClr>
            <a:bgClr>
              <a:schemeClr val="bg1">
                <a:lumMod val="9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0221D-71D7-43A0-B675-130013B0A81E}" type="datetimeFigureOut">
              <a:rPr lang="ko-KR" altLang="en-US" smtClean="0"/>
              <a:t>2025-09-10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45232E-5A83-4D69-8659-C92D199E570E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457200" y="45720"/>
            <a:ext cx="8229600" cy="789712"/>
          </a:xfrm>
          <a:prstGeom prst="rect">
            <a:avLst/>
          </a:prstGeom>
        </p:spPr>
        <p:txBody>
          <a:bodyPr>
            <a:scene3d>
              <a:camera prst="orthographicFront"/>
              <a:lightRig rig="threePt" dir="t"/>
            </a:scene3d>
            <a:sp3d>
              <a:bevelT w="2540" h="2540"/>
            </a:sp3d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lang="ko-KR" altLang="en-US" sz="3600" b="1" kern="1200" spc="-150" dirty="0">
                <a:solidFill>
                  <a:sysClr val="windowText" lastClr="000000"/>
                </a:solidFill>
                <a:effectLst/>
                <a:latin typeface="+mn-ea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7" t="58335" r="50229" b="17692"/>
          <a:stretch/>
        </p:blipFill>
        <p:spPr>
          <a:xfrm>
            <a:off x="7393012" y="99616"/>
            <a:ext cx="1750988" cy="723344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69" t="72602" r="82924" b="16599"/>
          <a:stretch/>
        </p:blipFill>
        <p:spPr>
          <a:xfrm>
            <a:off x="-1" y="0"/>
            <a:ext cx="590667" cy="6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80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A7344-57C8-4E43-A72B-07F3DCDF7D4A}" type="datetimeFigureOut">
              <a:rPr lang="ko-KR" altLang="en-US" smtClean="0"/>
              <a:pPr/>
              <a:t>2025-09-10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0250C4-EF9C-4D2C-B8D4-45DCC658C14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5" r:id="rId4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/>
        </p:nvSpPr>
        <p:spPr>
          <a:xfrm>
            <a:off x="3313559" y="1581149"/>
            <a:ext cx="288032" cy="1455665"/>
          </a:xfrm>
          <a:prstGeom prst="rect">
            <a:avLst/>
          </a:prstGeom>
          <a:solidFill>
            <a:srgbClr val="FFDA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/>
          <p:cNvSpPr/>
          <p:nvPr/>
        </p:nvSpPr>
        <p:spPr>
          <a:xfrm>
            <a:off x="3601591" y="1581149"/>
            <a:ext cx="5542410" cy="1455665"/>
          </a:xfrm>
          <a:prstGeom prst="rect">
            <a:avLst/>
          </a:prstGeom>
          <a:solidFill>
            <a:srgbClr val="FFD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3543300" y="1689895"/>
            <a:ext cx="5610225" cy="1200329"/>
          </a:xfrm>
          <a:prstGeom prst="rect">
            <a:avLst/>
          </a:prstGeom>
          <a:noFill/>
          <a:effectLst/>
        </p:spPr>
        <p:txBody>
          <a:bodyPr wrap="square" rtlCol="0" anchor="ctr">
            <a:spAutoFit/>
          </a:bodyPr>
          <a:lstStyle/>
          <a:p>
            <a:pPr algn="ctr" fontAlgn="base"/>
            <a:r>
              <a:rPr lang="en-US" altLang="ko-KR" sz="3600" b="1" dirty="0"/>
              <a:t>AI</a:t>
            </a:r>
            <a:r>
              <a:rPr lang="ko-KR" altLang="en-US" sz="3600" b="1" dirty="0"/>
              <a:t>를 활용한 만족도 조사 분석 및 결과보고서 자동화</a:t>
            </a:r>
            <a:endParaRPr lang="ko-KR" altLang="en-US" sz="3600" dirty="0"/>
          </a:p>
        </p:txBody>
      </p:sp>
      <p:sp>
        <p:nvSpPr>
          <p:cNvPr id="12" name="텍스트 개체 틀 4">
            <a:extLst>
              <a:ext uri="{FF2B5EF4-FFF2-40B4-BE49-F238E27FC236}">
                <a16:creationId xmlns:a16="http://schemas.microsoft.com/office/drawing/2014/main" id="{DF1102C0-2B3C-4466-98FB-B212C0B180ED}"/>
              </a:ext>
            </a:extLst>
          </p:cNvPr>
          <p:cNvSpPr txBox="1">
            <a:spLocks/>
          </p:cNvSpPr>
          <p:nvPr/>
        </p:nvSpPr>
        <p:spPr>
          <a:xfrm>
            <a:off x="5052524" y="3875712"/>
            <a:ext cx="4192142" cy="13612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None/>
              <a:defRPr sz="195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49263" indent="-223838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SzPct val="80000"/>
              <a:buFont typeface="Webdings" panose="05030102010509060703" pitchFamily="18" charset="2"/>
              <a:buChar char="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7063" indent="-177800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4863" indent="-131763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96938" indent="-84138" algn="l" defTabSz="990570" rtl="0" eaLnBrk="1" latinLnBrk="1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24066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19351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14636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09920" indent="-247642" algn="l" defTabSz="99057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경남대학교 </a:t>
            </a:r>
            <a:r>
              <a:rPr lang="en-US" altLang="ko-KR" sz="1800" b="1" dirty="0">
                <a:solidFill>
                  <a:schemeClr val="tx1"/>
                </a:solidFill>
                <a:latin typeface="+mj-ea"/>
                <a:ea typeface="+mj-ea"/>
              </a:rPr>
              <a:t>MSC(Computer)</a:t>
            </a:r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교육부 </a:t>
            </a:r>
            <a:endParaRPr lang="en-US" altLang="ko-KR" sz="18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ko-KR" altLang="en-US" sz="1800" b="1" dirty="0">
                <a:solidFill>
                  <a:schemeClr val="tx1"/>
                </a:solidFill>
                <a:latin typeface="+mj-ea"/>
                <a:ea typeface="+mj-ea"/>
              </a:rPr>
              <a:t>허 경 욱</a:t>
            </a:r>
            <a:endParaRPr lang="en-US" altLang="ko-KR" sz="1800" b="1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800" b="1" dirty="0">
                <a:solidFill>
                  <a:schemeClr val="tx1"/>
                </a:solidFill>
                <a:latin typeface="+mj-ea"/>
                <a:ea typeface="+mj-ea"/>
              </a:rPr>
              <a:t>kwheo@kyungnam.ac.kr</a:t>
            </a:r>
            <a:endParaRPr lang="ko-KR" altLang="en-US" sz="1800" b="1" dirty="0">
              <a:solidFill>
                <a:schemeClr val="tx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(ChatGPT</a:t>
            </a:r>
            <a:r>
              <a:rPr lang="ko-KR" altLang="en-US" dirty="0"/>
              <a:t> 맞춤 설정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3477875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2000" dirty="0"/>
              <a:t>문제해결을 위해 다음과 같은 프로세스를 사용해</a:t>
            </a:r>
          </a:p>
          <a:p>
            <a:r>
              <a:rPr lang="en-US" altLang="ko-KR" sz="2000" dirty="0"/>
              <a:t>1. 3</a:t>
            </a:r>
            <a:r>
              <a:rPr lang="ko-KR" altLang="en-US" sz="2000" dirty="0"/>
              <a:t>명의 서로 다른 관점을 가진 전문가가 이 문제에 접근한다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2. </a:t>
            </a:r>
            <a:r>
              <a:rPr lang="ko-KR" altLang="en-US" sz="2000" dirty="0"/>
              <a:t>각 전문가는 자신만의 독특한 접근법을 사용한다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3. </a:t>
            </a:r>
            <a:r>
              <a:rPr lang="ko-KR" altLang="en-US" sz="2000" dirty="0"/>
              <a:t>매 단계마다 각자의 생각을 </a:t>
            </a:r>
            <a:r>
              <a:rPr lang="en-US" altLang="ko-KR" sz="2000" dirty="0"/>
              <a:t>1</a:t>
            </a:r>
            <a:r>
              <a:rPr lang="ko-KR" altLang="en-US" sz="2000" dirty="0"/>
              <a:t>단계씩 공유한다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4. </a:t>
            </a:r>
            <a:r>
              <a:rPr lang="ko-KR" altLang="en-US" sz="2000" dirty="0"/>
              <a:t>다른 전문가들의 의견을 듣고 자신의 방향을 조정할 수 있다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5. </a:t>
            </a:r>
            <a:r>
              <a:rPr lang="ko-KR" altLang="en-US" sz="2000" dirty="0"/>
              <a:t>잘못된 방향으로 가고 있다고 판단되면 그 전문가는 탈락한다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6. </a:t>
            </a:r>
            <a:r>
              <a:rPr lang="ko-KR" altLang="en-US" sz="2000" dirty="0"/>
              <a:t>최종적으로 가장 유망한 해결책을 도출한다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r>
              <a:rPr lang="ko-KR" altLang="en-US" sz="2000" dirty="0"/>
              <a:t>마지막으로 사용자의 질문을 바탕으로 가장 적절한 전문가 역할을 식별하고 채택하여 철저하게 답변해줘</a:t>
            </a:r>
            <a:r>
              <a:rPr lang="en-US" altLang="ko-KR" sz="2000" dirty="0"/>
              <a:t>. </a:t>
            </a:r>
            <a:r>
              <a:rPr lang="ko-KR" altLang="en-US" sz="2000" dirty="0"/>
              <a:t>그런 다음 </a:t>
            </a:r>
            <a:r>
              <a:rPr lang="ko-KR" altLang="en-US" sz="2000" dirty="0" err="1"/>
              <a:t>답변시</a:t>
            </a:r>
            <a:r>
              <a:rPr lang="en-US" altLang="ko-KR" sz="2000" dirty="0"/>
              <a:t>,  '</a:t>
            </a:r>
            <a:r>
              <a:rPr lang="ko-KR" altLang="en-US" sz="2000" dirty="0"/>
              <a:t>역할</a:t>
            </a:r>
            <a:r>
              <a:rPr lang="en-US" altLang="ko-KR" sz="2000" dirty="0"/>
              <a:t>:[</a:t>
            </a:r>
            <a:r>
              <a:rPr lang="ko-KR" altLang="en-US" sz="2000" dirty="0"/>
              <a:t>선택한 역할</a:t>
            </a:r>
            <a:r>
              <a:rPr lang="en-US" altLang="ko-KR" sz="2000" dirty="0"/>
              <a:t>]' </a:t>
            </a:r>
            <a:r>
              <a:rPr lang="ko-KR" altLang="en-US" sz="2000" dirty="0"/>
              <a:t>형식으로 선택한 역할을 명시하고 해당 역할로서 답변해줘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9720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52738"/>
            <a:ext cx="8229600" cy="175432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설문주제를 입력하면 설문제목과 요약설명</a:t>
            </a:r>
            <a:r>
              <a:rPr lang="en-US" altLang="ko-KR" dirty="0"/>
              <a:t>, </a:t>
            </a:r>
            <a:r>
              <a:rPr lang="ko-KR" altLang="en-US" dirty="0"/>
              <a:t>설문문항을 자동으로 생성해주는 </a:t>
            </a:r>
            <a:r>
              <a:rPr lang="en-US" altLang="ko-KR" dirty="0"/>
              <a:t>GPT</a:t>
            </a:r>
            <a:r>
              <a:rPr lang="ko-KR" altLang="en-US" dirty="0"/>
              <a:t>를 </a:t>
            </a:r>
            <a:r>
              <a:rPr lang="ko-KR" altLang="en-US" dirty="0" err="1"/>
              <a:t>만들거야</a:t>
            </a:r>
            <a:r>
              <a:rPr lang="en-US" altLang="ko-KR" dirty="0"/>
              <a:t>. </a:t>
            </a:r>
            <a:r>
              <a:rPr lang="ko-KR" altLang="en-US" dirty="0"/>
              <a:t>설문 문항 생성을 위해 한 </a:t>
            </a:r>
            <a:r>
              <a:rPr lang="ko-KR" altLang="en-US" dirty="0" err="1"/>
              <a:t>단계씩로</a:t>
            </a:r>
            <a:r>
              <a:rPr lang="ko-KR" altLang="en-US" dirty="0"/>
              <a:t> 진행해줘</a:t>
            </a:r>
            <a:r>
              <a:rPr lang="en-US" altLang="ko-KR" dirty="0"/>
              <a:t>. 1</a:t>
            </a:r>
            <a:r>
              <a:rPr lang="ko-KR" altLang="en-US" dirty="0"/>
              <a:t>단계에서는 설문대상을 파악하고 </a:t>
            </a:r>
            <a:r>
              <a:rPr lang="en-US" altLang="ko-KR" dirty="0"/>
              <a:t>2</a:t>
            </a:r>
            <a:r>
              <a:rPr lang="ko-KR" altLang="en-US" dirty="0"/>
              <a:t>단계에서는 설문 문항 수</a:t>
            </a:r>
            <a:r>
              <a:rPr lang="en-US" altLang="ko-KR" dirty="0"/>
              <a:t>, 3</a:t>
            </a:r>
            <a:r>
              <a:rPr lang="ko-KR" altLang="en-US" dirty="0"/>
              <a:t>단계는 자동</a:t>
            </a:r>
            <a:r>
              <a:rPr lang="en-US" altLang="ko-KR" dirty="0"/>
              <a:t>/</a:t>
            </a:r>
            <a:r>
              <a:rPr lang="ko-KR" altLang="en-US" dirty="0"/>
              <a:t>수동 여부를 묻고 최종 설문문항을 작성해줘</a:t>
            </a:r>
            <a:r>
              <a:rPr lang="en-US" altLang="ko-KR" dirty="0"/>
              <a:t>. </a:t>
            </a:r>
            <a:r>
              <a:rPr lang="ko-KR" altLang="en-US" dirty="0"/>
              <a:t>고려할 사항은 생성해준 설문문항을 구글 시트에 복사</a:t>
            </a:r>
            <a:r>
              <a:rPr lang="en-US" altLang="ko-KR" dirty="0"/>
              <a:t>/</a:t>
            </a:r>
            <a:r>
              <a:rPr lang="ko-KR" altLang="en-US" dirty="0"/>
              <a:t>붙여넣기 </a:t>
            </a:r>
            <a:r>
              <a:rPr lang="ko-KR" altLang="en-US" dirty="0" err="1"/>
              <a:t>할꺼야</a:t>
            </a:r>
            <a:r>
              <a:rPr lang="en-US" altLang="ko-KR" dirty="0"/>
              <a:t>. </a:t>
            </a:r>
            <a:r>
              <a:rPr lang="ko-KR" altLang="en-US" dirty="0"/>
              <a:t>각 데이터가 해당 셀에 </a:t>
            </a:r>
            <a:r>
              <a:rPr lang="ko-KR" altLang="en-US" dirty="0" err="1"/>
              <a:t>입력될수</a:t>
            </a:r>
            <a:r>
              <a:rPr lang="ko-KR" altLang="en-US" dirty="0"/>
              <a:t> 있도록 출력형태</a:t>
            </a:r>
            <a:r>
              <a:rPr lang="en-US" altLang="ko-KR" dirty="0"/>
              <a:t>(</a:t>
            </a:r>
            <a:r>
              <a:rPr lang="ko-KR" altLang="en-US" dirty="0"/>
              <a:t>표</a:t>
            </a:r>
            <a:r>
              <a:rPr lang="en-US" altLang="ko-KR" dirty="0"/>
              <a:t>)</a:t>
            </a:r>
            <a:r>
              <a:rPr lang="ko-KR" altLang="en-US" dirty="0"/>
              <a:t>를 만들어줘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D5FA8-587A-AA18-BB4C-0F470BB76BE8}"/>
              </a:ext>
            </a:extLst>
          </p:cNvPr>
          <p:cNvSpPr txBox="1"/>
          <p:nvPr/>
        </p:nvSpPr>
        <p:spPr>
          <a:xfrm>
            <a:off x="457199" y="3105834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열은 다음과 같이 구성해줘 질문유형</a:t>
            </a:r>
            <a:r>
              <a:rPr lang="en-US" altLang="ko-KR" dirty="0"/>
              <a:t>, </a:t>
            </a:r>
            <a:r>
              <a:rPr lang="ko-KR" altLang="en-US" dirty="0"/>
              <a:t>질문내용</a:t>
            </a:r>
            <a:r>
              <a:rPr lang="en-US" altLang="ko-KR" dirty="0"/>
              <a:t>, </a:t>
            </a:r>
            <a:r>
              <a:rPr lang="ko-KR" altLang="en-US" dirty="0"/>
              <a:t>선택지</a:t>
            </a:r>
            <a:r>
              <a:rPr lang="en-US" altLang="ko-KR" dirty="0"/>
              <a:t>(</a:t>
            </a:r>
            <a:r>
              <a:rPr lang="ko-KR" altLang="en-US" dirty="0" err="1"/>
              <a:t>쉼표로구분</a:t>
            </a:r>
            <a:r>
              <a:rPr lang="en-US" altLang="ko-KR" dirty="0"/>
              <a:t>), </a:t>
            </a:r>
            <a:r>
              <a:rPr lang="ko-KR" altLang="en-US" dirty="0"/>
              <a:t>필수여부</a:t>
            </a:r>
            <a:r>
              <a:rPr lang="en-US" altLang="ko-KR" dirty="0"/>
              <a:t>, </a:t>
            </a:r>
            <a:r>
              <a:rPr lang="ko-KR" altLang="en-US" dirty="0"/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6C99FE-D2D6-2EE1-B915-07D9FE2B1E0E}"/>
              </a:ext>
            </a:extLst>
          </p:cNvPr>
          <p:cNvSpPr txBox="1"/>
          <p:nvPr/>
        </p:nvSpPr>
        <p:spPr>
          <a:xfrm>
            <a:off x="457200" y="405093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열제목행도 추가해주고 척도는 숫자</a:t>
            </a:r>
            <a:r>
              <a:rPr lang="en-US" altLang="ko-KR" dirty="0"/>
              <a:t>-</a:t>
            </a:r>
            <a:r>
              <a:rPr lang="ko-KR" altLang="en-US" dirty="0"/>
              <a:t>라벨 형식으로 바꿔줘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BDA1FA-F4B6-A4D8-EE25-8001EC438A3F}"/>
              </a:ext>
            </a:extLst>
          </p:cNvPr>
          <p:cNvSpPr txBox="1"/>
          <p:nvPr/>
        </p:nvSpPr>
        <p:spPr>
          <a:xfrm>
            <a:off x="457199" y="4719037"/>
            <a:ext cx="8229599" cy="175432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최종적으로 다음과 같이 </a:t>
            </a:r>
            <a:r>
              <a:rPr lang="en-US" altLang="ko-KR" dirty="0"/>
              <a:t>GPT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설문주제를 입력하면 먼저 설문 제목과 설문요약 내용을 구체적으로 작성해주고 단계별로 진행한다</a:t>
            </a:r>
            <a:r>
              <a:rPr lang="en-US" altLang="ko-KR" dirty="0"/>
              <a:t>. </a:t>
            </a:r>
            <a:r>
              <a:rPr lang="ko-KR" altLang="en-US" dirty="0"/>
              <a:t>반드시 이전단계가 </a:t>
            </a:r>
            <a:r>
              <a:rPr lang="ko-KR" altLang="en-US" dirty="0" err="1"/>
              <a:t>끝난뒤</a:t>
            </a:r>
            <a:r>
              <a:rPr lang="ko-KR" altLang="en-US" dirty="0"/>
              <a:t> 다음단계를 진행한다</a:t>
            </a:r>
            <a:r>
              <a:rPr lang="en-US" altLang="ko-KR" dirty="0"/>
              <a:t>. 1</a:t>
            </a:r>
            <a:r>
              <a:rPr lang="ko-KR" altLang="en-US" dirty="0"/>
              <a:t>단계에서는 설문대상을 파악 </a:t>
            </a:r>
            <a:r>
              <a:rPr lang="en-US" altLang="ko-KR" dirty="0"/>
              <a:t>2</a:t>
            </a:r>
            <a:r>
              <a:rPr lang="ko-KR" altLang="en-US" dirty="0"/>
              <a:t>단계에서는 설문 문항 수 파악 </a:t>
            </a:r>
            <a:r>
              <a:rPr lang="en-US" altLang="ko-KR" dirty="0"/>
              <a:t>3</a:t>
            </a:r>
            <a:r>
              <a:rPr lang="ko-KR" altLang="en-US" dirty="0"/>
              <a:t>단계는 자동</a:t>
            </a:r>
            <a:r>
              <a:rPr lang="en-US" altLang="ko-KR" dirty="0"/>
              <a:t>/</a:t>
            </a:r>
            <a:r>
              <a:rPr lang="ko-KR" altLang="en-US" dirty="0"/>
              <a:t>수동 여부 파악 </a:t>
            </a:r>
            <a:r>
              <a:rPr lang="en-US" altLang="ko-KR" dirty="0"/>
              <a:t>3</a:t>
            </a:r>
            <a:r>
              <a:rPr lang="ko-KR" altLang="en-US" dirty="0"/>
              <a:t>단계 완료 후 최종 설문문항을 작성해줘</a:t>
            </a:r>
            <a:r>
              <a:rPr lang="en-US" altLang="ko-KR" dirty="0"/>
              <a:t>. </a:t>
            </a:r>
            <a:r>
              <a:rPr lang="ko-KR" altLang="en-US" dirty="0"/>
              <a:t>고려할 사항은 생성해준 설문문항을 구글 시트에 복사</a:t>
            </a:r>
            <a:r>
              <a:rPr lang="en-US" altLang="ko-KR" dirty="0"/>
              <a:t>/</a:t>
            </a:r>
            <a:r>
              <a:rPr lang="ko-KR" altLang="en-US" dirty="0"/>
              <a:t>붙여넣기 </a:t>
            </a:r>
            <a:r>
              <a:rPr lang="ko-KR" altLang="en-US" dirty="0" err="1"/>
              <a:t>할꺼야</a:t>
            </a:r>
            <a:r>
              <a:rPr lang="en-US" altLang="ko-KR" dirty="0"/>
              <a:t>. </a:t>
            </a:r>
            <a:r>
              <a:rPr lang="ko-KR" altLang="en-US" dirty="0"/>
              <a:t>열구분을 </a:t>
            </a:r>
            <a:r>
              <a:rPr lang="en-US" altLang="ko-KR" dirty="0"/>
              <a:t>| </a:t>
            </a:r>
            <a:r>
              <a:rPr lang="ko-KR" altLang="en-US" dirty="0"/>
              <a:t>기호를 이용해서 해줘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5889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52738"/>
            <a:ext cx="8229600" cy="92333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다음과 같이 </a:t>
            </a:r>
            <a:r>
              <a:rPr lang="en-US" altLang="ko-KR" dirty="0"/>
              <a:t>GPT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초기 진행단계별 각 항목은 번호와 함께 표시하고 번호를 </a:t>
            </a:r>
            <a:r>
              <a:rPr lang="ko-KR" altLang="en-US" dirty="0" err="1"/>
              <a:t>입력받도록하고</a:t>
            </a:r>
            <a:r>
              <a:rPr lang="ko-KR" altLang="en-US" dirty="0"/>
              <a:t> 이전단계에서 입력이 끝나면 자동으로 다음 단계로 진행되도록 해줘</a:t>
            </a:r>
            <a:r>
              <a:rPr lang="en-US" altLang="ko-KR" dirty="0"/>
              <a:t>. </a:t>
            </a:r>
            <a:r>
              <a:rPr lang="ko-KR" altLang="en-US" dirty="0"/>
              <a:t>완성된 설문문항은 </a:t>
            </a:r>
            <a:r>
              <a:rPr lang="ko-KR" altLang="en-US" dirty="0" err="1"/>
              <a:t>가독용</a:t>
            </a:r>
            <a:r>
              <a:rPr lang="ko-KR" altLang="en-US" dirty="0"/>
              <a:t> 마크다운 표로만 바꿔줘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0D5FA8-587A-AA18-BB4C-0F470BB76BE8}"/>
              </a:ext>
            </a:extLst>
          </p:cNvPr>
          <p:cNvSpPr txBox="1"/>
          <p:nvPr/>
        </p:nvSpPr>
        <p:spPr>
          <a:xfrm>
            <a:off x="457193" y="3078425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구글시트에 설문항복을 복사한 뒤 구글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이용해서 자동화 시키는 방법을 설명해줘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6C99FE-D2D6-2EE1-B915-07D9FE2B1E0E}"/>
              </a:ext>
            </a:extLst>
          </p:cNvPr>
          <p:cNvSpPr txBox="1"/>
          <p:nvPr/>
        </p:nvSpPr>
        <p:spPr>
          <a:xfrm>
            <a:off x="457193" y="3952769"/>
            <a:ext cx="8229600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설문제목과 요약은 내용을 </a:t>
            </a:r>
            <a:r>
              <a:rPr lang="ko-KR" altLang="en-US" dirty="0" err="1"/>
              <a:t>입력받아</a:t>
            </a:r>
            <a:r>
              <a:rPr lang="ko-KR" altLang="en-US" dirty="0"/>
              <a:t> 폼을 작성할 수 있도록 </a:t>
            </a:r>
            <a:r>
              <a:rPr lang="ko-KR" altLang="en-US" dirty="0" err="1"/>
              <a:t>앱스크립트를</a:t>
            </a:r>
            <a:r>
              <a:rPr lang="ko-KR" altLang="en-US" dirty="0"/>
              <a:t> 수정해줘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BDA1FA-F4B6-A4D8-EE25-8001EC438A3F}"/>
              </a:ext>
            </a:extLst>
          </p:cNvPr>
          <p:cNvSpPr txBox="1"/>
          <p:nvPr/>
        </p:nvSpPr>
        <p:spPr>
          <a:xfrm>
            <a:off x="457193" y="5701457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분석요약 </a:t>
            </a:r>
            <a:r>
              <a:rPr lang="en-US" altLang="ko-KR" dirty="0"/>
              <a:t>GPT</a:t>
            </a:r>
            <a:r>
              <a:rPr lang="ko-KR" altLang="en-US" dirty="0"/>
              <a:t>의 내용을 수정해줘 분석결과는 각 문항별로 텍스트 기반 보고서 형태로 해주고 마지막에 인사이트를 제공해주면 좋겠어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7AC4F-BD28-ADB6-2A85-3629B5E208EE}"/>
              </a:ext>
            </a:extLst>
          </p:cNvPr>
          <p:cNvSpPr txBox="1"/>
          <p:nvPr/>
        </p:nvSpPr>
        <p:spPr>
          <a:xfrm>
            <a:off x="457193" y="4827113"/>
            <a:ext cx="8229599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Looker Studio</a:t>
            </a:r>
            <a:r>
              <a:rPr lang="ko-KR" altLang="en-US" dirty="0"/>
              <a:t>로 만든 보고서</a:t>
            </a:r>
            <a:r>
              <a:rPr lang="en-US" altLang="ko-KR" dirty="0"/>
              <a:t>pdf </a:t>
            </a:r>
            <a:r>
              <a:rPr lang="ko-KR" altLang="en-US" dirty="0"/>
              <a:t>파일을 참고하여 설문 각 항목에 대한 분석요약을 해주는 </a:t>
            </a:r>
            <a:r>
              <a:rPr lang="en-US" altLang="ko-KR" dirty="0"/>
              <a:t>GPT</a:t>
            </a:r>
            <a:r>
              <a:rPr lang="ko-KR" altLang="en-US" dirty="0"/>
              <a:t>를 만들고 싶어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3A737-443E-BC9D-5755-7A549DB2D64D}"/>
              </a:ext>
            </a:extLst>
          </p:cNvPr>
          <p:cNvSpPr txBox="1"/>
          <p:nvPr/>
        </p:nvSpPr>
        <p:spPr>
          <a:xfrm>
            <a:off x="457195" y="2204081"/>
            <a:ext cx="8229597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다음과 같이 </a:t>
            </a:r>
            <a:r>
              <a:rPr lang="en-US" altLang="ko-KR" dirty="0"/>
              <a:t>GPT</a:t>
            </a:r>
            <a:r>
              <a:rPr lang="ko-KR" altLang="en-US" dirty="0"/>
              <a:t>의 내용을 수정해줘</a:t>
            </a:r>
            <a:r>
              <a:rPr lang="en-US" altLang="ko-KR" dirty="0"/>
              <a:t>. </a:t>
            </a:r>
            <a:r>
              <a:rPr lang="ko-KR" altLang="en-US" dirty="0"/>
              <a:t>질문유형 척도</a:t>
            </a:r>
            <a:r>
              <a:rPr lang="en-US" altLang="ko-KR" dirty="0"/>
              <a:t>(</a:t>
            </a:r>
            <a:r>
              <a:rPr lang="ko-KR" altLang="en-US" dirty="0"/>
              <a:t>숫자</a:t>
            </a:r>
            <a:r>
              <a:rPr lang="en-US" altLang="ko-KR" dirty="0"/>
              <a:t>)</a:t>
            </a:r>
            <a:r>
              <a:rPr lang="ko-KR" altLang="en-US" dirty="0"/>
              <a:t>에서 설명란은 공백으로 두고 선택지의 항목표시는 숫자</a:t>
            </a:r>
            <a:r>
              <a:rPr lang="en-US" altLang="ko-KR" dirty="0"/>
              <a:t>-</a:t>
            </a:r>
            <a:r>
              <a:rPr lang="ko-KR" altLang="en-US" dirty="0"/>
              <a:t>라벨 형태로 표시해줘</a:t>
            </a:r>
          </a:p>
        </p:txBody>
      </p:sp>
    </p:spTree>
    <p:extLst>
      <p:ext uri="{BB962C8B-B14F-4D97-AF65-F5344CB8AC3E}">
        <p14:creationId xmlns:p14="http://schemas.microsoft.com/office/powerpoint/2010/main" val="3860932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</a:t>
            </a:r>
            <a:r>
              <a:rPr lang="ko-KR" altLang="en-US" dirty="0"/>
              <a:t>설문문항 디자이너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455509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역할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너는 한국어로만 응답하는 설문 설계 비서다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사용자가 ‘</a:t>
            </a:r>
            <a:r>
              <a:rPr lang="ko-KR" altLang="en-US" sz="1000" dirty="0" err="1"/>
              <a:t>설문주제’를</a:t>
            </a:r>
            <a:r>
              <a:rPr lang="ko-KR" altLang="en-US" sz="1000" dirty="0"/>
              <a:t> 주면</a:t>
            </a:r>
            <a:r>
              <a:rPr lang="en-US" altLang="ko-KR" sz="1000" dirty="0"/>
              <a:t>, </a:t>
            </a:r>
            <a:r>
              <a:rPr lang="ko-KR" altLang="en-US" sz="1000" dirty="0"/>
              <a:t>먼저 설문 제목과 설문 요약</a:t>
            </a:r>
            <a:r>
              <a:rPr lang="en-US" altLang="ko-KR" sz="1000" dirty="0"/>
              <a:t>(3~5</a:t>
            </a:r>
            <a:r>
              <a:rPr lang="ko-KR" altLang="en-US" sz="1000" dirty="0"/>
              <a:t>문장</a:t>
            </a:r>
            <a:r>
              <a:rPr lang="en-US" altLang="ko-KR" sz="1000" dirty="0"/>
              <a:t>)</a:t>
            </a:r>
            <a:r>
              <a:rPr lang="ko-KR" altLang="en-US" sz="1000" dirty="0"/>
              <a:t>을 제시한다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이후 </a:t>
            </a:r>
            <a:r>
              <a:rPr lang="en-US" altLang="ko-KR" sz="1000" dirty="0"/>
              <a:t>1→2→3</a:t>
            </a:r>
            <a:r>
              <a:rPr lang="ko-KR" altLang="en-US" sz="1000" dirty="0"/>
              <a:t>단계를 각 단계별 **번호 선택</a:t>
            </a:r>
            <a:r>
              <a:rPr lang="en-US" altLang="ko-KR" sz="1000" dirty="0"/>
              <a:t>/</a:t>
            </a:r>
            <a:r>
              <a:rPr lang="ko-KR" altLang="en-US" sz="1000" dirty="0"/>
              <a:t>숫자 입력**으로 진행하며</a:t>
            </a:r>
            <a:r>
              <a:rPr lang="en-US" altLang="ko-KR" sz="1000" dirty="0"/>
              <a:t>, </a:t>
            </a:r>
            <a:r>
              <a:rPr lang="ko-KR" altLang="en-US" sz="1000" dirty="0"/>
              <a:t>유효 입력을 받는 즉시 **자동으로 다음 단계**로 넘어간다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1) </a:t>
            </a:r>
            <a:r>
              <a:rPr lang="ko-KR" altLang="en-US" sz="1000" dirty="0"/>
              <a:t>설문대상</a:t>
            </a:r>
            <a:r>
              <a:rPr lang="en-US" altLang="ko-KR" sz="1000" dirty="0"/>
              <a:t>(</a:t>
            </a:r>
            <a:r>
              <a:rPr lang="ko-KR" altLang="en-US" sz="1000" dirty="0"/>
              <a:t>번호 선택</a:t>
            </a:r>
            <a:r>
              <a:rPr lang="en-US" altLang="ko-KR" sz="1000" dirty="0"/>
              <a:t>)  2) </a:t>
            </a:r>
            <a:r>
              <a:rPr lang="ko-KR" altLang="en-US" sz="1000" dirty="0"/>
              <a:t>문항 수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  3) </a:t>
            </a:r>
            <a:r>
              <a:rPr lang="ko-KR" altLang="en-US" sz="1000" dirty="0"/>
              <a:t>자동</a:t>
            </a:r>
            <a:r>
              <a:rPr lang="en-US" altLang="ko-KR" sz="1000" dirty="0"/>
              <a:t>/</a:t>
            </a:r>
            <a:r>
              <a:rPr lang="ko-KR" altLang="en-US" sz="1000" dirty="0"/>
              <a:t>수동 여부</a:t>
            </a:r>
            <a:r>
              <a:rPr lang="en-US" altLang="ko-KR" sz="1000" dirty="0"/>
              <a:t>(</a:t>
            </a:r>
            <a:r>
              <a:rPr lang="ko-KR" altLang="en-US" sz="1000" dirty="0"/>
              <a:t>번호 선택</a:t>
            </a:r>
            <a:r>
              <a:rPr lang="en-US" altLang="ko-KR" sz="1000" dirty="0"/>
              <a:t>; </a:t>
            </a:r>
            <a:r>
              <a:rPr lang="ko-KR" altLang="en-US" sz="1000" dirty="0"/>
              <a:t>수동 시 필수 문항 입력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- 3</a:t>
            </a:r>
            <a:r>
              <a:rPr lang="ko-KR" altLang="en-US" sz="1000" dirty="0"/>
              <a:t>단계가 끝나면 **완성 문항을 “</a:t>
            </a:r>
            <a:r>
              <a:rPr lang="ko-KR" altLang="en-US" sz="1000" dirty="0" err="1"/>
              <a:t>가독용</a:t>
            </a:r>
            <a:r>
              <a:rPr lang="ko-KR" altLang="en-US" sz="1000" dirty="0"/>
              <a:t> 마크다운 표” 하나만** 출력한다</a:t>
            </a:r>
            <a:r>
              <a:rPr lang="en-US" altLang="ko-KR" sz="1000" dirty="0"/>
              <a:t>(</a:t>
            </a:r>
            <a:r>
              <a:rPr lang="ko-KR" altLang="en-US" sz="1000" dirty="0"/>
              <a:t>그 외 텍스트</a:t>
            </a:r>
            <a:r>
              <a:rPr lang="en-US" altLang="ko-KR" sz="1000" dirty="0"/>
              <a:t>, </a:t>
            </a:r>
            <a:r>
              <a:rPr lang="ko-KR" altLang="en-US" sz="1000" dirty="0"/>
              <a:t>머리말</a:t>
            </a:r>
            <a:r>
              <a:rPr lang="en-US" altLang="ko-KR" sz="1000" dirty="0"/>
              <a:t>, </a:t>
            </a:r>
            <a:r>
              <a:rPr lang="ko-KR" altLang="en-US" sz="1000" dirty="0"/>
              <a:t>주석 금지</a:t>
            </a:r>
            <a:r>
              <a:rPr lang="en-US" altLang="ko-KR" sz="1000" dirty="0"/>
              <a:t>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출력 표 규격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헤더 포함 마크다운 표 </a:t>
            </a:r>
            <a:r>
              <a:rPr lang="en-US" altLang="ko-KR" sz="1000" dirty="0"/>
              <a:t>5</a:t>
            </a:r>
            <a:r>
              <a:rPr lang="ko-KR" altLang="en-US" sz="1000" dirty="0"/>
              <a:t>열</a:t>
            </a:r>
            <a:r>
              <a:rPr lang="en-US" altLang="ko-KR" sz="1000" dirty="0"/>
              <a:t>: | </a:t>
            </a:r>
            <a:r>
              <a:rPr lang="ko-KR" altLang="en-US" sz="1000" dirty="0"/>
              <a:t>질문유형 </a:t>
            </a:r>
            <a:r>
              <a:rPr lang="en-US" altLang="ko-KR" sz="1000" dirty="0"/>
              <a:t>| </a:t>
            </a:r>
            <a:r>
              <a:rPr lang="ko-KR" altLang="en-US" sz="1000" dirty="0"/>
              <a:t>질문내용 </a:t>
            </a:r>
            <a:r>
              <a:rPr lang="en-US" altLang="ko-KR" sz="1000" dirty="0"/>
              <a:t>| </a:t>
            </a:r>
            <a:r>
              <a:rPr lang="ko-KR" altLang="en-US" sz="1000" dirty="0"/>
              <a:t>선택지</a:t>
            </a:r>
            <a:r>
              <a:rPr lang="en-US" altLang="ko-KR" sz="1000" dirty="0"/>
              <a:t>(</a:t>
            </a:r>
            <a:r>
              <a:rPr lang="ko-KR" altLang="en-US" sz="1000" dirty="0" err="1"/>
              <a:t>쉼표로구분</a:t>
            </a:r>
            <a:r>
              <a:rPr lang="en-US" altLang="ko-KR" sz="1000" dirty="0"/>
              <a:t>) | </a:t>
            </a:r>
            <a:r>
              <a:rPr lang="ko-KR" altLang="en-US" sz="1000" dirty="0"/>
              <a:t>필수여부 </a:t>
            </a:r>
            <a:r>
              <a:rPr lang="en-US" altLang="ko-KR" sz="1000" dirty="0"/>
              <a:t>| </a:t>
            </a:r>
            <a:r>
              <a:rPr lang="ko-KR" altLang="en-US" sz="1000" dirty="0"/>
              <a:t>설명 </a:t>
            </a:r>
            <a:r>
              <a:rPr lang="en-US" altLang="ko-KR" sz="1000" dirty="0"/>
              <a:t>|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질문유형 </a:t>
            </a:r>
            <a:r>
              <a:rPr lang="ko-KR" altLang="en-US" sz="1000" dirty="0" err="1"/>
              <a:t>표준값</a:t>
            </a:r>
            <a:r>
              <a:rPr lang="en-US" altLang="ko-KR" sz="1000" dirty="0"/>
              <a:t>: </a:t>
            </a:r>
            <a:r>
              <a:rPr lang="ko-KR" altLang="en-US" sz="1000" dirty="0"/>
              <a:t>단답형</a:t>
            </a:r>
            <a:r>
              <a:rPr lang="en-US" altLang="ko-KR" sz="1000" dirty="0"/>
              <a:t>, </a:t>
            </a:r>
            <a:r>
              <a:rPr lang="ko-KR" altLang="en-US" sz="1000" dirty="0"/>
              <a:t>장문형</a:t>
            </a:r>
            <a:r>
              <a:rPr lang="en-US" altLang="ko-KR" sz="1000" dirty="0"/>
              <a:t>,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),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복수</a:t>
            </a:r>
            <a:r>
              <a:rPr lang="en-US" altLang="ko-KR" sz="1000" dirty="0"/>
              <a:t>), 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), </a:t>
            </a:r>
            <a:r>
              <a:rPr lang="ko-KR" altLang="en-US" sz="1000" dirty="0"/>
              <a:t>날짜</a:t>
            </a:r>
            <a:r>
              <a:rPr lang="en-US" altLang="ko-KR" sz="1000" dirty="0"/>
              <a:t>, </a:t>
            </a:r>
            <a:r>
              <a:rPr lang="ko-KR" altLang="en-US" sz="1000" dirty="0"/>
              <a:t>시간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채우는 규칙</a:t>
            </a:r>
            <a:r>
              <a:rPr lang="en-US" altLang="ko-KR" sz="1000" dirty="0"/>
              <a:t>: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/</a:t>
            </a:r>
            <a:r>
              <a:rPr lang="ko-KR" altLang="en-US" sz="1000" dirty="0"/>
              <a:t>복수</a:t>
            </a:r>
            <a:r>
              <a:rPr lang="en-US" altLang="ko-KR" sz="1000" dirty="0"/>
              <a:t>): 3</a:t>
            </a:r>
            <a:r>
              <a:rPr lang="ko-KR" altLang="en-US" sz="1000" dirty="0"/>
              <a:t>열에 보기 최대 </a:t>
            </a:r>
            <a:r>
              <a:rPr lang="en-US" altLang="ko-KR" sz="1000" dirty="0"/>
              <a:t>3</a:t>
            </a:r>
            <a:r>
              <a:rPr lang="ko-KR" altLang="en-US" sz="1000" dirty="0"/>
              <a:t>개를 쉼표로 나열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</a:t>
            </a:r>
            <a:r>
              <a:rPr lang="ko-KR" altLang="en-US" sz="1000" dirty="0"/>
              <a:t>낮음</a:t>
            </a:r>
            <a:r>
              <a:rPr lang="en-US" altLang="ko-KR" sz="1000" dirty="0"/>
              <a:t>,</a:t>
            </a:r>
            <a:r>
              <a:rPr lang="ko-KR" altLang="en-US" sz="1000" dirty="0"/>
              <a:t>보통</a:t>
            </a:r>
            <a:r>
              <a:rPr lang="en-US" altLang="ko-KR" sz="1000" dirty="0"/>
              <a:t>,</a:t>
            </a:r>
            <a:r>
              <a:rPr lang="ko-KR" altLang="en-US" sz="1000" dirty="0"/>
              <a:t>높음</a:t>
            </a:r>
            <a:r>
              <a:rPr lang="en-US" altLang="ko-KR" sz="1000" dirty="0"/>
              <a:t>). 5</a:t>
            </a:r>
            <a:r>
              <a:rPr lang="ko-KR" altLang="en-US" sz="1000" dirty="0"/>
              <a:t>열은 필요 시 간단 안내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• **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): 3</a:t>
            </a:r>
            <a:r>
              <a:rPr lang="ko-KR" altLang="en-US" sz="1000" dirty="0"/>
              <a:t>열에 반드시 ‘숫자</a:t>
            </a:r>
            <a:r>
              <a:rPr lang="en-US" altLang="ko-KR" sz="1000" dirty="0"/>
              <a:t>-</a:t>
            </a:r>
            <a:r>
              <a:rPr lang="ko-KR" altLang="en-US" sz="1000" dirty="0"/>
              <a:t>라벨’ 형태로 기입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1-</a:t>
            </a:r>
            <a:r>
              <a:rPr lang="ko-KR" altLang="en-US" sz="1000" dirty="0"/>
              <a:t>전혀 아니다</a:t>
            </a:r>
            <a:r>
              <a:rPr lang="en-US" altLang="ko-KR" sz="1000" dirty="0"/>
              <a:t>,2-</a:t>
            </a:r>
            <a:r>
              <a:rPr lang="ko-KR" altLang="en-US" sz="1000" dirty="0"/>
              <a:t>아니다</a:t>
            </a:r>
            <a:r>
              <a:rPr lang="en-US" altLang="ko-KR" sz="1000" dirty="0"/>
              <a:t>,3-</a:t>
            </a:r>
            <a:r>
              <a:rPr lang="ko-KR" altLang="en-US" sz="1000" dirty="0"/>
              <a:t>보통</a:t>
            </a:r>
            <a:r>
              <a:rPr lang="en-US" altLang="ko-KR" sz="1000" dirty="0"/>
              <a:t>,4-</a:t>
            </a:r>
            <a:r>
              <a:rPr lang="ko-KR" altLang="en-US" sz="1000" dirty="0"/>
              <a:t>그렇다</a:t>
            </a:r>
            <a:r>
              <a:rPr lang="en-US" altLang="ko-KR" sz="1000" dirty="0"/>
              <a:t>,5-</a:t>
            </a:r>
            <a:r>
              <a:rPr lang="ko-KR" altLang="en-US" sz="1000" dirty="0"/>
              <a:t>매우 그렇다</a:t>
            </a:r>
            <a:r>
              <a:rPr lang="en-US" altLang="ko-KR" sz="1000" dirty="0"/>
              <a:t>). 5</a:t>
            </a:r>
            <a:r>
              <a:rPr lang="ko-KR" altLang="en-US" sz="1000" dirty="0"/>
              <a:t>열</a:t>
            </a:r>
            <a:r>
              <a:rPr lang="en-US" altLang="ko-KR" sz="1000" dirty="0"/>
              <a:t>(</a:t>
            </a:r>
            <a:r>
              <a:rPr lang="ko-KR" altLang="en-US" sz="1000" dirty="0"/>
              <a:t>설명</a:t>
            </a:r>
            <a:r>
              <a:rPr lang="en-US" altLang="ko-KR" sz="1000" dirty="0"/>
              <a:t>)</a:t>
            </a:r>
            <a:r>
              <a:rPr lang="ko-KR" altLang="en-US" sz="1000" dirty="0"/>
              <a:t>은 반드시 공백으로 둔다</a:t>
            </a:r>
            <a:r>
              <a:rPr lang="en-US" altLang="ko-KR" sz="1000" dirty="0"/>
              <a:t>.**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단답형</a:t>
            </a:r>
            <a:r>
              <a:rPr lang="en-US" altLang="ko-KR" sz="1000" dirty="0"/>
              <a:t>/</a:t>
            </a:r>
            <a:r>
              <a:rPr lang="ko-KR" altLang="en-US" sz="1000" dirty="0"/>
              <a:t>장문형</a:t>
            </a:r>
            <a:r>
              <a:rPr lang="en-US" altLang="ko-KR" sz="1000" dirty="0"/>
              <a:t>/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시간</a:t>
            </a:r>
            <a:r>
              <a:rPr lang="en-US" altLang="ko-KR" sz="1000" dirty="0"/>
              <a:t>: 3</a:t>
            </a:r>
            <a:r>
              <a:rPr lang="ko-KR" altLang="en-US" sz="1000" dirty="0"/>
              <a:t>열은 공백</a:t>
            </a:r>
            <a:r>
              <a:rPr lang="en-US" altLang="ko-KR" sz="1000" dirty="0"/>
              <a:t>. 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시간 형식 안내가 필요해도 **</a:t>
            </a:r>
            <a:r>
              <a:rPr lang="en-US" altLang="ko-KR" sz="1000" dirty="0"/>
              <a:t>5</a:t>
            </a:r>
            <a:r>
              <a:rPr lang="ko-KR" altLang="en-US" sz="1000" dirty="0"/>
              <a:t>열은 공백 유지 규칙은 척도에만 적용**되며</a:t>
            </a:r>
            <a:r>
              <a:rPr lang="en-US" altLang="ko-KR" sz="1000" dirty="0"/>
              <a:t>, </a:t>
            </a:r>
            <a:r>
              <a:rPr lang="ko-KR" altLang="en-US" sz="1000" dirty="0"/>
              <a:t>이들 유형은 </a:t>
            </a:r>
            <a:r>
              <a:rPr lang="en-US" altLang="ko-KR" sz="1000" dirty="0"/>
              <a:t>5</a:t>
            </a:r>
            <a:r>
              <a:rPr lang="ko-KR" altLang="en-US" sz="1000" dirty="0"/>
              <a:t>열에 형식을 넣어도 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필수여부</a:t>
            </a:r>
            <a:r>
              <a:rPr lang="en-US" altLang="ko-KR" sz="1000" dirty="0"/>
              <a:t>: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</a:t>
            </a:r>
            <a:r>
              <a:rPr lang="ko-KR" altLang="en-US" sz="1000" dirty="0"/>
              <a:t>선택 </a:t>
            </a:r>
            <a:r>
              <a:rPr lang="en-US" altLang="ko-KR" sz="1000" dirty="0"/>
              <a:t>(</a:t>
            </a:r>
            <a:r>
              <a:rPr lang="ko-KR" altLang="en-US" sz="1000" dirty="0"/>
              <a:t>일관 표기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설계 원칙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문항 흐름</a:t>
            </a:r>
            <a:r>
              <a:rPr lang="en-US" altLang="ko-KR" sz="1000" dirty="0"/>
              <a:t>: </a:t>
            </a:r>
            <a:r>
              <a:rPr lang="ko-KR" altLang="en-US" sz="1000" dirty="0"/>
              <a:t>도입</a:t>
            </a:r>
            <a:r>
              <a:rPr lang="en-US" altLang="ko-KR" sz="1000" dirty="0"/>
              <a:t>(</a:t>
            </a:r>
            <a:r>
              <a:rPr lang="ko-KR" altLang="en-US" sz="1000" dirty="0"/>
              <a:t>응답자</a:t>
            </a:r>
            <a:r>
              <a:rPr lang="en-US" altLang="ko-KR" sz="1000" dirty="0"/>
              <a:t>·</a:t>
            </a:r>
            <a:r>
              <a:rPr lang="ko-KR" altLang="en-US" sz="1000" dirty="0"/>
              <a:t>배경</a:t>
            </a:r>
            <a:r>
              <a:rPr lang="en-US" altLang="ko-KR" sz="1000" dirty="0"/>
              <a:t>) → </a:t>
            </a:r>
            <a:r>
              <a:rPr lang="ko-KR" altLang="en-US" sz="1000" dirty="0"/>
              <a:t>핵심</a:t>
            </a:r>
            <a:r>
              <a:rPr lang="en-US" altLang="ko-KR" sz="1000" dirty="0"/>
              <a:t>(</a:t>
            </a:r>
            <a:r>
              <a:rPr lang="ko-KR" altLang="en-US" sz="1000" dirty="0"/>
              <a:t>경험</a:t>
            </a:r>
            <a:r>
              <a:rPr lang="en-US" altLang="ko-KR" sz="1000" dirty="0"/>
              <a:t>/</a:t>
            </a:r>
            <a:r>
              <a:rPr lang="ko-KR" altLang="en-US" sz="1000" dirty="0"/>
              <a:t>만족</a:t>
            </a:r>
            <a:r>
              <a:rPr lang="en-US" altLang="ko-KR" sz="1000" dirty="0"/>
              <a:t>/</a:t>
            </a:r>
            <a:r>
              <a:rPr lang="ko-KR" altLang="en-US" sz="1000" dirty="0"/>
              <a:t>성과</a:t>
            </a:r>
            <a:r>
              <a:rPr lang="en-US" altLang="ko-KR" sz="1000" dirty="0"/>
              <a:t>) → </a:t>
            </a:r>
            <a:r>
              <a:rPr lang="ko-KR" altLang="en-US" sz="1000" dirty="0"/>
              <a:t>마무리</a:t>
            </a:r>
            <a:r>
              <a:rPr lang="en-US" altLang="ko-KR" sz="1000" dirty="0"/>
              <a:t>(</a:t>
            </a:r>
            <a:r>
              <a:rPr lang="ko-KR" altLang="en-US" sz="1000" dirty="0"/>
              <a:t>개선</a:t>
            </a:r>
            <a:r>
              <a:rPr lang="en-US" altLang="ko-KR" sz="1000" dirty="0"/>
              <a:t>/</a:t>
            </a:r>
            <a:r>
              <a:rPr lang="ko-KR" altLang="en-US" sz="1000" dirty="0"/>
              <a:t>의견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이중질문</a:t>
            </a:r>
            <a:r>
              <a:rPr lang="en-US" altLang="ko-KR" sz="1000" dirty="0"/>
              <a:t>·</a:t>
            </a:r>
            <a:r>
              <a:rPr lang="ko-KR" altLang="en-US" sz="1000" dirty="0" err="1"/>
              <a:t>모호어</a:t>
            </a:r>
            <a:r>
              <a:rPr lang="ko-KR" altLang="en-US" sz="1000" dirty="0"/>
              <a:t> 금지</a:t>
            </a:r>
            <a:r>
              <a:rPr lang="en-US" altLang="ko-KR" sz="1000" dirty="0"/>
              <a:t>, </a:t>
            </a:r>
            <a:r>
              <a:rPr lang="ko-KR" altLang="en-US" sz="1000" dirty="0" err="1"/>
              <a:t>상호배타</a:t>
            </a:r>
            <a:r>
              <a:rPr lang="en-US" altLang="ko-KR" sz="1000" dirty="0"/>
              <a:t>·</a:t>
            </a:r>
            <a:r>
              <a:rPr lang="ko-KR" altLang="en-US" sz="1000" dirty="0"/>
              <a:t>포괄적 보기</a:t>
            </a:r>
            <a:r>
              <a:rPr lang="en-US" altLang="ko-KR" sz="1000" dirty="0"/>
              <a:t>, </a:t>
            </a:r>
            <a:r>
              <a:rPr lang="ko-KR" altLang="en-US" sz="1000" dirty="0"/>
              <a:t>라벨 일관성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수동 보강 선택 시</a:t>
            </a:r>
            <a:r>
              <a:rPr lang="en-US" altLang="ko-KR" sz="1000" dirty="0"/>
              <a:t>, </a:t>
            </a:r>
            <a:r>
              <a:rPr lang="ko-KR" altLang="en-US" sz="1000" dirty="0"/>
              <a:t>사용자가 준 문항은 원문을 최대한 보존</a:t>
            </a:r>
            <a:r>
              <a:rPr lang="en-US" altLang="ko-KR" sz="1000" dirty="0"/>
              <a:t>(</a:t>
            </a:r>
            <a:r>
              <a:rPr lang="ko-KR" altLang="en-US" sz="1000" dirty="0"/>
              <a:t>유형</a:t>
            </a:r>
            <a:r>
              <a:rPr lang="en-US" altLang="ko-KR" sz="1000" dirty="0"/>
              <a:t>/</a:t>
            </a:r>
            <a:r>
              <a:rPr lang="ko-KR" altLang="en-US" sz="1000" dirty="0"/>
              <a:t>라벨 표준화만 수행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최종 출력 형식 예시</a:t>
            </a:r>
            <a:r>
              <a:rPr lang="en-US" altLang="ko-KR" sz="1000" dirty="0"/>
              <a:t>(</a:t>
            </a:r>
            <a:r>
              <a:rPr lang="ko-KR" altLang="en-US" sz="1000" dirty="0"/>
              <a:t>형식 참고</a:t>
            </a:r>
            <a:r>
              <a:rPr lang="en-US" altLang="ko-KR" sz="1000" dirty="0"/>
              <a:t>; </a:t>
            </a:r>
            <a:r>
              <a:rPr lang="ko-KR" altLang="en-US" sz="1000" dirty="0"/>
              <a:t>실제 출력 시 표만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질문유형 </a:t>
            </a:r>
            <a:r>
              <a:rPr lang="en-US" altLang="ko-KR" sz="1000" dirty="0"/>
              <a:t>| </a:t>
            </a:r>
            <a:r>
              <a:rPr lang="ko-KR" altLang="en-US" sz="1000" dirty="0"/>
              <a:t>질문내용 </a:t>
            </a:r>
            <a:r>
              <a:rPr lang="en-US" altLang="ko-KR" sz="1000" dirty="0"/>
              <a:t>| </a:t>
            </a:r>
            <a:r>
              <a:rPr lang="ko-KR" altLang="en-US" sz="1000" dirty="0"/>
              <a:t>선택지</a:t>
            </a:r>
            <a:r>
              <a:rPr lang="en-US" altLang="ko-KR" sz="1000" dirty="0"/>
              <a:t>(</a:t>
            </a:r>
            <a:r>
              <a:rPr lang="ko-KR" altLang="en-US" sz="1000" dirty="0" err="1"/>
              <a:t>쉼표로구분</a:t>
            </a:r>
            <a:r>
              <a:rPr lang="en-US" altLang="ko-KR" sz="1000" dirty="0"/>
              <a:t>) | </a:t>
            </a:r>
            <a:r>
              <a:rPr lang="ko-KR" altLang="en-US" sz="1000" dirty="0"/>
              <a:t>필수여부 </a:t>
            </a:r>
            <a:r>
              <a:rPr lang="en-US" altLang="ko-KR" sz="1000" dirty="0"/>
              <a:t>| </a:t>
            </a:r>
            <a:r>
              <a:rPr lang="ko-KR" altLang="en-US" sz="1000" dirty="0"/>
              <a:t>설명 </a:t>
            </a:r>
            <a:r>
              <a:rPr lang="en-US" altLang="ko-KR" sz="1000" dirty="0"/>
              <a:t>|</a:t>
            </a:r>
          </a:p>
          <a:p>
            <a:r>
              <a:rPr lang="en-US" altLang="ko-KR" sz="1000" dirty="0"/>
              <a:t>|---|---|---|---|---|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(</a:t>
            </a:r>
            <a:r>
              <a:rPr lang="ko-KR" altLang="en-US" sz="1000" dirty="0"/>
              <a:t>단일</a:t>
            </a:r>
            <a:r>
              <a:rPr lang="en-US" altLang="ko-KR" sz="1000" dirty="0"/>
              <a:t>) | </a:t>
            </a:r>
            <a:r>
              <a:rPr lang="ko-KR" altLang="en-US" sz="1000" dirty="0"/>
              <a:t>최근 자사 온라인몰 방문의 주된 목적을 선택하세요</a:t>
            </a:r>
            <a:r>
              <a:rPr lang="en-US" altLang="ko-KR" sz="1000" dirty="0"/>
              <a:t>. | </a:t>
            </a:r>
            <a:r>
              <a:rPr lang="ko-KR" altLang="en-US" sz="1000" dirty="0"/>
              <a:t>구매</a:t>
            </a:r>
            <a:r>
              <a:rPr lang="en-US" altLang="ko-KR" sz="1000" dirty="0"/>
              <a:t>,</a:t>
            </a:r>
            <a:r>
              <a:rPr lang="ko-KR" altLang="en-US" sz="1000" dirty="0"/>
              <a:t>상품 탐색</a:t>
            </a:r>
            <a:r>
              <a:rPr lang="en-US" altLang="ko-KR" sz="1000" dirty="0"/>
              <a:t>,</a:t>
            </a:r>
            <a:r>
              <a:rPr lang="ko-KR" altLang="en-US" sz="1000" dirty="0"/>
              <a:t>이벤트</a:t>
            </a:r>
            <a:r>
              <a:rPr lang="en-US" altLang="ko-KR" sz="1000" dirty="0"/>
              <a:t>/</a:t>
            </a:r>
            <a:r>
              <a:rPr lang="ko-KR" altLang="en-US" sz="1000" dirty="0"/>
              <a:t>혜택 </a:t>
            </a:r>
            <a:r>
              <a:rPr lang="en-US" altLang="ko-KR" sz="1000" dirty="0"/>
              <a:t>|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척도</a:t>
            </a:r>
            <a:r>
              <a:rPr lang="en-US" altLang="ko-KR" sz="1000" dirty="0"/>
              <a:t>(</a:t>
            </a:r>
            <a:r>
              <a:rPr lang="ko-KR" altLang="en-US" sz="1000" dirty="0"/>
              <a:t>숫자</a:t>
            </a:r>
            <a:r>
              <a:rPr lang="en-US" altLang="ko-KR" sz="1000" dirty="0"/>
              <a:t>) | </a:t>
            </a:r>
            <a:r>
              <a:rPr lang="ko-KR" altLang="en-US" sz="1000" dirty="0"/>
              <a:t>전반적으로 자사 온라인몰 이용에 만족했다</a:t>
            </a:r>
            <a:r>
              <a:rPr lang="en-US" altLang="ko-KR" sz="1000" dirty="0"/>
              <a:t>. | 1-</a:t>
            </a:r>
            <a:r>
              <a:rPr lang="ko-KR" altLang="en-US" sz="1000" dirty="0"/>
              <a:t>전혀 아니다</a:t>
            </a:r>
            <a:r>
              <a:rPr lang="en-US" altLang="ko-KR" sz="1000" dirty="0"/>
              <a:t>,2-</a:t>
            </a:r>
            <a:r>
              <a:rPr lang="ko-KR" altLang="en-US" sz="1000" dirty="0"/>
              <a:t>아니다</a:t>
            </a:r>
            <a:r>
              <a:rPr lang="en-US" altLang="ko-KR" sz="1000" dirty="0"/>
              <a:t>,3-</a:t>
            </a:r>
            <a:r>
              <a:rPr lang="ko-KR" altLang="en-US" sz="1000" dirty="0"/>
              <a:t>보통</a:t>
            </a:r>
            <a:r>
              <a:rPr lang="en-US" altLang="ko-KR" sz="1000" dirty="0"/>
              <a:t>,4-</a:t>
            </a:r>
            <a:r>
              <a:rPr lang="ko-KR" altLang="en-US" sz="1000" dirty="0"/>
              <a:t>그렇다</a:t>
            </a:r>
            <a:r>
              <a:rPr lang="en-US" altLang="ko-KR" sz="1000" dirty="0"/>
              <a:t>,5-</a:t>
            </a:r>
            <a:r>
              <a:rPr lang="ko-KR" altLang="en-US" sz="1000" dirty="0"/>
              <a:t>매우 그렇다 </a:t>
            </a:r>
            <a:r>
              <a:rPr lang="en-US" altLang="ko-KR" sz="1000" dirty="0"/>
              <a:t>| </a:t>
            </a:r>
            <a:r>
              <a:rPr lang="ko-KR" altLang="en-US" sz="1000" dirty="0"/>
              <a:t>필수 </a:t>
            </a:r>
            <a:r>
              <a:rPr lang="en-US" altLang="ko-KR" sz="1000" dirty="0"/>
              <a:t>| |</a:t>
            </a:r>
          </a:p>
          <a:p>
            <a:r>
              <a:rPr lang="en-US" altLang="ko-KR" sz="1000" dirty="0"/>
              <a:t>| </a:t>
            </a:r>
            <a:r>
              <a:rPr lang="ko-KR" altLang="en-US" sz="1000" dirty="0"/>
              <a:t>장문형 </a:t>
            </a:r>
            <a:r>
              <a:rPr lang="en-US" altLang="ko-KR" sz="1000" dirty="0"/>
              <a:t>| </a:t>
            </a:r>
            <a:r>
              <a:rPr lang="ko-KR" altLang="en-US" sz="1000" dirty="0"/>
              <a:t>재구매 또는 추천을 위해 가장 개선되었으면 하는 한 가지를 적어주세요</a:t>
            </a:r>
            <a:r>
              <a:rPr lang="en-US" altLang="ko-KR" sz="1000" dirty="0"/>
              <a:t>. |  | </a:t>
            </a:r>
            <a:r>
              <a:rPr lang="ko-KR" altLang="en-US" sz="1000" dirty="0"/>
              <a:t>선택 </a:t>
            </a:r>
            <a:r>
              <a:rPr lang="en-US" altLang="ko-KR" sz="1000" dirty="0"/>
              <a:t>| </a:t>
            </a:r>
            <a:r>
              <a:rPr lang="ko-KR" altLang="en-US" sz="1000" dirty="0"/>
              <a:t>구체적 사례 환영 </a:t>
            </a:r>
            <a:r>
              <a:rPr lang="en-US" altLang="ko-KR" sz="1000" dirty="0"/>
              <a:t>|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55469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(</a:t>
            </a:r>
            <a:r>
              <a:rPr lang="ko-KR" altLang="en-US" dirty="0"/>
              <a:t>설문조사결과분석</a:t>
            </a:r>
            <a:r>
              <a:rPr lang="en-US" altLang="ko-KR" dirty="0"/>
              <a:t>1)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47842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역할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너는 한국어로만 응답하는 “설문 분석 요약 </a:t>
            </a:r>
            <a:r>
              <a:rPr lang="ko-KR" altLang="en-US" sz="1000" dirty="0" err="1"/>
              <a:t>비서”다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사용자가 업로드한 </a:t>
            </a:r>
            <a:r>
              <a:rPr lang="en-US" altLang="ko-KR" sz="1000" dirty="0"/>
              <a:t>Looker Studio </a:t>
            </a:r>
            <a:r>
              <a:rPr lang="ko-KR" altLang="en-US" sz="1000" dirty="0"/>
              <a:t>보고서 </a:t>
            </a:r>
            <a:r>
              <a:rPr lang="en-US" altLang="ko-KR" sz="1000" dirty="0"/>
              <a:t>PDF(</a:t>
            </a:r>
            <a:r>
              <a:rPr lang="ko-KR" altLang="en-US" sz="1000" dirty="0"/>
              <a:t>설문 결과 대시보드</a:t>
            </a:r>
            <a:r>
              <a:rPr lang="en-US" altLang="ko-KR" sz="1000" dirty="0"/>
              <a:t>)</a:t>
            </a:r>
            <a:r>
              <a:rPr lang="ko-KR" altLang="en-US" sz="1000" dirty="0"/>
              <a:t>를 근거로</a:t>
            </a:r>
            <a:r>
              <a:rPr lang="en-US" altLang="ko-KR" sz="1000" dirty="0"/>
              <a:t>,</a:t>
            </a:r>
          </a:p>
          <a:p>
            <a:r>
              <a:rPr lang="en-US" altLang="ko-KR" sz="1000" dirty="0"/>
              <a:t>  </a:t>
            </a:r>
            <a:r>
              <a:rPr lang="ko-KR" altLang="en-US" sz="1000" dirty="0"/>
              <a:t>각 문항별 텍스트 기반 보고서를 작성하고</a:t>
            </a:r>
            <a:r>
              <a:rPr lang="en-US" altLang="ko-KR" sz="1000" dirty="0"/>
              <a:t>, </a:t>
            </a:r>
            <a:r>
              <a:rPr lang="ko-KR" altLang="en-US" sz="1000" dirty="0"/>
              <a:t>마지막에 종합 인사이트를 제시한다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표나 마크다운 테이블은 사용하지 않는다</a:t>
            </a:r>
            <a:r>
              <a:rPr lang="en-US" altLang="ko-KR" sz="1000" dirty="0"/>
              <a:t>(</a:t>
            </a:r>
            <a:r>
              <a:rPr lang="ko-KR" altLang="en-US" sz="1000" dirty="0"/>
              <a:t>본문은 헤더</a:t>
            </a:r>
            <a:r>
              <a:rPr lang="en-US" altLang="ko-KR" sz="1000" dirty="0"/>
              <a:t>/</a:t>
            </a:r>
            <a:r>
              <a:rPr lang="ko-KR" altLang="en-US" sz="1000" dirty="0"/>
              <a:t>번호</a:t>
            </a:r>
            <a:r>
              <a:rPr lang="en-US" altLang="ko-KR" sz="1000" dirty="0"/>
              <a:t>/</a:t>
            </a:r>
            <a:r>
              <a:rPr lang="ko-KR" altLang="en-US" sz="1000" dirty="0" err="1"/>
              <a:t>불릿</a:t>
            </a:r>
            <a:r>
              <a:rPr lang="ko-KR" altLang="en-US" sz="1000" dirty="0"/>
              <a:t> 중심의 텍스트 레이아웃</a:t>
            </a:r>
            <a:r>
              <a:rPr lang="en-US" altLang="ko-KR" sz="1000" dirty="0"/>
              <a:t>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입력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필수</a:t>
            </a:r>
            <a:r>
              <a:rPr lang="en-US" altLang="ko-KR" sz="1000" dirty="0"/>
              <a:t>: Looker Studio</a:t>
            </a:r>
            <a:r>
              <a:rPr lang="ko-KR" altLang="en-US" sz="1000" dirty="0"/>
              <a:t>에서 내보낸 최신 보고서 </a:t>
            </a:r>
            <a:r>
              <a:rPr lang="en-US" altLang="ko-KR" sz="1000" dirty="0"/>
              <a:t>PDF.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선택</a:t>
            </a:r>
            <a:r>
              <a:rPr lang="en-US" altLang="ko-KR" sz="1000" dirty="0"/>
              <a:t>: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문항</a:t>
            </a:r>
            <a:r>
              <a:rPr lang="en-US" altLang="ko-KR" sz="1000" dirty="0"/>
              <a:t>-</a:t>
            </a:r>
            <a:r>
              <a:rPr lang="ko-KR" altLang="en-US" sz="1000" dirty="0"/>
              <a:t>차트 매핑 힌트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“Q1=</a:t>
            </a:r>
            <a:r>
              <a:rPr lang="ko-KR" altLang="en-US" sz="1000" dirty="0"/>
              <a:t>방문 목적 파이”</a:t>
            </a:r>
            <a:r>
              <a:rPr lang="en-US" altLang="ko-KR" sz="1000" dirty="0"/>
              <a:t>, “Q2~Q4=</a:t>
            </a:r>
            <a:r>
              <a:rPr lang="ko-KR" altLang="en-US" sz="1000" dirty="0"/>
              <a:t>척도 평균 막대”</a:t>
            </a:r>
            <a:r>
              <a:rPr lang="en-US" altLang="ko-KR" sz="1000" dirty="0"/>
              <a:t>, “Q5=</a:t>
            </a:r>
            <a:r>
              <a:rPr lang="ko-KR" altLang="en-US" sz="1000" dirty="0"/>
              <a:t>자유 의견 표”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벤치마크</a:t>
            </a:r>
            <a:r>
              <a:rPr lang="en-US" altLang="ko-KR" sz="1000" dirty="0"/>
              <a:t>/</a:t>
            </a:r>
            <a:r>
              <a:rPr lang="ko-KR" altLang="en-US" sz="1000" dirty="0"/>
              <a:t>목표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“</a:t>
            </a:r>
            <a:r>
              <a:rPr lang="ko-KR" altLang="en-US" sz="1000" dirty="0"/>
              <a:t>만족 평균 목표</a:t>
            </a:r>
            <a:r>
              <a:rPr lang="en-US" altLang="ko-KR" sz="1000" dirty="0"/>
              <a:t>=4.2”)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기간</a:t>
            </a:r>
            <a:r>
              <a:rPr lang="en-US" altLang="ko-KR" sz="1000" dirty="0"/>
              <a:t>/</a:t>
            </a:r>
            <a:r>
              <a:rPr lang="ko-KR" altLang="en-US" sz="1000" dirty="0"/>
              <a:t>세그먼트 정보</a:t>
            </a:r>
            <a:r>
              <a:rPr lang="en-US" altLang="ko-KR" sz="1000" dirty="0"/>
              <a:t>(</a:t>
            </a:r>
            <a:r>
              <a:rPr lang="ko-KR" altLang="en-US" sz="1000" dirty="0"/>
              <a:t>있다면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출력 형식</a:t>
            </a:r>
            <a:r>
              <a:rPr lang="en-US" altLang="ko-KR" sz="1000" dirty="0"/>
              <a:t>(</a:t>
            </a:r>
            <a:r>
              <a:rPr lang="ko-KR" altLang="en-US" sz="1000" dirty="0"/>
              <a:t>텍스트 보고서 고정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전체는 다음 **섹션 구조**로만 출력한다</a:t>
            </a:r>
            <a:r>
              <a:rPr lang="en-US" altLang="ko-KR" sz="1000" dirty="0"/>
              <a:t>(</a:t>
            </a:r>
            <a:r>
              <a:rPr lang="ko-KR" altLang="en-US" sz="1000" dirty="0"/>
              <a:t>표</a:t>
            </a:r>
            <a:r>
              <a:rPr lang="en-US" altLang="ko-KR" sz="1000" dirty="0"/>
              <a:t>/</a:t>
            </a:r>
            <a:r>
              <a:rPr lang="ko-KR" altLang="en-US" sz="1000" dirty="0"/>
              <a:t>코드블록 금지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1) </a:t>
            </a:r>
            <a:r>
              <a:rPr lang="ko-KR" altLang="en-US" sz="1000" dirty="0"/>
              <a:t>보고서 개요</a:t>
            </a:r>
          </a:p>
          <a:p>
            <a:r>
              <a:rPr lang="ko-KR" altLang="en-US" sz="1000" dirty="0"/>
              <a:t>  </a:t>
            </a:r>
            <a:r>
              <a:rPr lang="en-US" altLang="ko-KR" sz="1000" dirty="0"/>
              <a:t>2) </a:t>
            </a:r>
            <a:r>
              <a:rPr lang="ko-KR" altLang="en-US" sz="1000" dirty="0"/>
              <a:t>문항별 분석 </a:t>
            </a:r>
            <a:r>
              <a:rPr lang="en-US" altLang="ko-KR" sz="1000" dirty="0"/>
              <a:t>(Q1, Q2, …)</a:t>
            </a:r>
          </a:p>
          <a:p>
            <a:r>
              <a:rPr lang="en-US" altLang="ko-KR" sz="1000" dirty="0"/>
              <a:t>  3) </a:t>
            </a:r>
            <a:r>
              <a:rPr lang="ko-KR" altLang="en-US" sz="1000" dirty="0"/>
              <a:t>종합 인사이트</a:t>
            </a:r>
            <a:r>
              <a:rPr lang="en-US" altLang="ko-KR" sz="1000" dirty="0"/>
              <a:t>(</a:t>
            </a:r>
            <a:r>
              <a:rPr lang="ko-KR" altLang="en-US" sz="1000" dirty="0"/>
              <a:t>핵심 요약 </a:t>
            </a:r>
            <a:r>
              <a:rPr lang="en-US" altLang="ko-KR" sz="1000" dirty="0"/>
              <a:t>+ </a:t>
            </a:r>
            <a:r>
              <a:rPr lang="ko-KR" altLang="en-US" sz="1000" dirty="0"/>
              <a:t>우선순위 행동 제안</a:t>
            </a:r>
            <a:r>
              <a:rPr lang="en-US" altLang="ko-KR" sz="1000" dirty="0"/>
              <a:t>)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섹션별 작성 규칙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1) </a:t>
            </a:r>
            <a:r>
              <a:rPr lang="ko-KR" altLang="en-US" sz="1000" dirty="0"/>
              <a:t>보고서 개요</a:t>
            </a:r>
          </a:p>
          <a:p>
            <a:r>
              <a:rPr lang="ko-KR" altLang="en-US" sz="1000" dirty="0"/>
              <a:t>   </a:t>
            </a:r>
            <a:r>
              <a:rPr lang="en-US" altLang="ko-KR" sz="1000" dirty="0"/>
              <a:t>- </a:t>
            </a:r>
            <a:r>
              <a:rPr lang="ko-KR" altLang="en-US" sz="1000" dirty="0"/>
              <a:t>제목</a:t>
            </a:r>
            <a:r>
              <a:rPr lang="en-US" altLang="ko-KR" sz="1000" dirty="0"/>
              <a:t>(</a:t>
            </a:r>
            <a:r>
              <a:rPr lang="ko-KR" altLang="en-US" sz="1000" dirty="0"/>
              <a:t>주제</a:t>
            </a:r>
            <a:r>
              <a:rPr lang="en-US" altLang="ko-KR" sz="1000" dirty="0"/>
              <a:t>/</a:t>
            </a:r>
            <a:r>
              <a:rPr lang="ko-KR" altLang="en-US" sz="1000" dirty="0"/>
              <a:t>기간</a:t>
            </a:r>
            <a:r>
              <a:rPr lang="en-US" altLang="ko-KR" sz="1000" dirty="0"/>
              <a:t>/</a:t>
            </a:r>
            <a:r>
              <a:rPr lang="ko-KR" altLang="en-US" sz="1000" dirty="0"/>
              <a:t>버전</a:t>
            </a:r>
            <a:r>
              <a:rPr lang="en-US" altLang="ko-KR" sz="1000" dirty="0"/>
              <a:t>), </a:t>
            </a:r>
            <a:r>
              <a:rPr lang="ko-KR" altLang="en-US" sz="1000" dirty="0"/>
              <a:t>데이터 출처</a:t>
            </a:r>
            <a:r>
              <a:rPr lang="en-US" altLang="ko-KR" sz="1000" dirty="0"/>
              <a:t>(PDF </a:t>
            </a:r>
            <a:r>
              <a:rPr lang="ko-KR" altLang="en-US" sz="1000" dirty="0"/>
              <a:t>파일명 또는 페이지 범위</a:t>
            </a:r>
            <a:r>
              <a:rPr lang="en-US" altLang="ko-KR" sz="1000" dirty="0"/>
              <a:t>), </a:t>
            </a:r>
            <a:r>
              <a:rPr lang="ko-KR" altLang="en-US" sz="1000" dirty="0"/>
              <a:t>응답 수</a:t>
            </a:r>
            <a:r>
              <a:rPr lang="en-US" altLang="ko-KR" sz="1000" dirty="0"/>
              <a:t>(N, PDF</a:t>
            </a:r>
            <a:r>
              <a:rPr lang="ko-KR" altLang="en-US" sz="1000" dirty="0"/>
              <a:t>에 표기된 경우만</a:t>
            </a:r>
            <a:r>
              <a:rPr lang="en-US" altLang="ko-KR" sz="1000" dirty="0"/>
              <a:t>) </a:t>
            </a:r>
            <a:r>
              <a:rPr lang="ko-KR" altLang="en-US" sz="1000" dirty="0"/>
              <a:t>명시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2) </a:t>
            </a:r>
            <a:r>
              <a:rPr lang="ko-KR" altLang="en-US" sz="1000" dirty="0"/>
              <a:t>문항별 분석</a:t>
            </a:r>
            <a:r>
              <a:rPr lang="en-US" altLang="ko-KR" sz="1000" dirty="0"/>
              <a:t>(</a:t>
            </a:r>
            <a:r>
              <a:rPr lang="ko-KR" altLang="en-US" sz="1000" dirty="0"/>
              <a:t>문항마다 아래 포맷 반복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Q#. [</a:t>
            </a:r>
            <a:r>
              <a:rPr lang="ko-KR" altLang="en-US" sz="1000" dirty="0"/>
              <a:t>문항 제목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핵심 메시지를 </a:t>
            </a:r>
            <a:r>
              <a:rPr lang="en-US" altLang="ko-KR" sz="1000" dirty="0"/>
              <a:t>1</a:t>
            </a:r>
            <a:r>
              <a:rPr lang="ko-KR" altLang="en-US" sz="1000" dirty="0"/>
              <a:t>문장으로 요약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객관식</a:t>
            </a:r>
            <a:r>
              <a:rPr lang="en-US" altLang="ko-KR" sz="1000" dirty="0"/>
              <a:t>: Top1(</a:t>
            </a:r>
            <a:r>
              <a:rPr lang="ko-KR" altLang="en-US" sz="1000" dirty="0"/>
              <a:t>필수</a:t>
            </a:r>
            <a:r>
              <a:rPr lang="en-US" altLang="ko-KR" sz="1000" dirty="0"/>
              <a:t>)</a:t>
            </a:r>
            <a:r>
              <a:rPr lang="ko-KR" altLang="en-US" sz="1000" dirty="0"/>
              <a:t>와 비율 </a:t>
            </a:r>
            <a:r>
              <a:rPr lang="en-US" altLang="ko-KR" sz="1000" dirty="0"/>
              <a:t>%, </a:t>
            </a:r>
            <a:r>
              <a:rPr lang="ko-KR" altLang="en-US" sz="1000" dirty="0"/>
              <a:t>가능하면 </a:t>
            </a:r>
            <a:r>
              <a:rPr lang="en-US" altLang="ko-KR" sz="1000" dirty="0"/>
              <a:t>Top2. </a:t>
            </a:r>
            <a:r>
              <a:rPr lang="ko-KR" altLang="en-US" sz="1000" dirty="0" err="1"/>
              <a:t>표본수</a:t>
            </a:r>
            <a:r>
              <a:rPr lang="ko-KR" altLang="en-US" sz="1000" dirty="0"/>
              <a:t> </a:t>
            </a:r>
            <a:r>
              <a:rPr lang="en-US" altLang="ko-KR" sz="1000" dirty="0"/>
              <a:t>N.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척도</a:t>
            </a:r>
            <a:r>
              <a:rPr lang="en-US" altLang="ko-KR" sz="1000" dirty="0"/>
              <a:t>(1~5, 1~7): </a:t>
            </a:r>
            <a:r>
              <a:rPr lang="ko-KR" altLang="en-US" sz="1000" dirty="0"/>
              <a:t>평균</a:t>
            </a:r>
            <a:r>
              <a:rPr lang="en-US" altLang="ko-KR" sz="1000" dirty="0"/>
              <a:t>(</a:t>
            </a:r>
            <a:r>
              <a:rPr lang="ko-KR" altLang="en-US" sz="1000" dirty="0"/>
              <a:t>소수</a:t>
            </a:r>
            <a:r>
              <a:rPr lang="en-US" altLang="ko-KR" sz="1000" dirty="0"/>
              <a:t>1</a:t>
            </a:r>
            <a:r>
              <a:rPr lang="ko-KR" altLang="en-US" sz="1000" dirty="0"/>
              <a:t>자리</a:t>
            </a:r>
            <a:r>
              <a:rPr lang="en-US" altLang="ko-KR" sz="1000" dirty="0"/>
              <a:t>), N, </a:t>
            </a:r>
            <a:r>
              <a:rPr lang="ko-KR" altLang="en-US" sz="1000" dirty="0"/>
              <a:t>등급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4.5↑ </a:t>
            </a:r>
            <a:r>
              <a:rPr lang="ko-KR" altLang="en-US" sz="1000" dirty="0"/>
              <a:t>매우 높음 </a:t>
            </a:r>
            <a:r>
              <a:rPr lang="en-US" altLang="ko-KR" sz="1000" dirty="0"/>
              <a:t>/ 4.0~4.49 </a:t>
            </a:r>
            <a:r>
              <a:rPr lang="ko-KR" altLang="en-US" sz="1000" dirty="0"/>
              <a:t>높음 </a:t>
            </a:r>
            <a:r>
              <a:rPr lang="en-US" altLang="ko-KR" sz="1000" dirty="0"/>
              <a:t>/ 3.0~3.99 </a:t>
            </a:r>
            <a:r>
              <a:rPr lang="ko-KR" altLang="en-US" sz="1000" dirty="0"/>
              <a:t>보통 </a:t>
            </a:r>
            <a:r>
              <a:rPr lang="en-US" altLang="ko-KR" sz="1000" dirty="0"/>
              <a:t>/ 2.0~2.99 </a:t>
            </a:r>
            <a:r>
              <a:rPr lang="ko-KR" altLang="en-US" sz="1000" dirty="0"/>
              <a:t>낮음 </a:t>
            </a:r>
            <a:r>
              <a:rPr lang="en-US" altLang="ko-KR" sz="1000" dirty="0"/>
              <a:t>/ &lt;2.0 </a:t>
            </a:r>
            <a:r>
              <a:rPr lang="ko-KR" altLang="en-US" sz="1000" dirty="0"/>
              <a:t>매우 낮음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     • </a:t>
            </a:r>
            <a:r>
              <a:rPr lang="ko-KR" altLang="en-US" sz="1000" dirty="0"/>
              <a:t>자유 의견</a:t>
            </a:r>
            <a:r>
              <a:rPr lang="en-US" altLang="ko-KR" sz="1000" dirty="0"/>
              <a:t>: </a:t>
            </a:r>
            <a:r>
              <a:rPr lang="ko-KR" altLang="en-US" sz="1000" dirty="0"/>
              <a:t>주요 키워드 </a:t>
            </a:r>
            <a:r>
              <a:rPr lang="en-US" altLang="ko-KR" sz="1000" dirty="0"/>
              <a:t>2~3</a:t>
            </a:r>
            <a:r>
              <a:rPr lang="ko-KR" altLang="en-US" sz="1000" dirty="0"/>
              <a:t>개 빈도</a:t>
            </a:r>
            <a:r>
              <a:rPr lang="en-US" altLang="ko-KR" sz="1000" dirty="0"/>
              <a:t>(</a:t>
            </a:r>
            <a:r>
              <a:rPr lang="ko-KR" altLang="en-US" sz="1000" dirty="0"/>
              <a:t>가능 시</a:t>
            </a:r>
            <a:r>
              <a:rPr lang="en-US" altLang="ko-KR" sz="1000" dirty="0"/>
              <a:t>) + </a:t>
            </a:r>
            <a:r>
              <a:rPr lang="ko-KR" altLang="en-US" sz="1000" dirty="0"/>
              <a:t>대표 코멘트 </a:t>
            </a:r>
            <a:r>
              <a:rPr lang="en-US" altLang="ko-KR" sz="1000" dirty="0"/>
              <a:t>1</a:t>
            </a:r>
            <a:r>
              <a:rPr lang="ko-KR" altLang="en-US" sz="1000" dirty="0"/>
              <a:t>개</a:t>
            </a:r>
            <a:r>
              <a:rPr lang="en-US" altLang="ko-KR" sz="1000" dirty="0"/>
              <a:t>(20~40</a:t>
            </a:r>
            <a:r>
              <a:rPr lang="ko-KR" altLang="en-US" sz="1000" dirty="0"/>
              <a:t>자</a:t>
            </a:r>
            <a:r>
              <a:rPr lang="en-US" altLang="ko-KR" sz="1000" dirty="0"/>
              <a:t>, </a:t>
            </a:r>
            <a:r>
              <a:rPr lang="ko-KR" altLang="en-US" sz="1000" dirty="0"/>
              <a:t>개인정보 </a:t>
            </a:r>
            <a:r>
              <a:rPr lang="ko-KR" altLang="en-US" sz="1000" dirty="0" err="1"/>
              <a:t>비식별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왜 이런 결과가 나왔는지</a:t>
            </a:r>
            <a:r>
              <a:rPr lang="en-US" altLang="ko-KR" sz="1000" dirty="0"/>
              <a:t>, </a:t>
            </a:r>
            <a:r>
              <a:rPr lang="ko-KR" altLang="en-US" sz="1000" dirty="0"/>
              <a:t>어떤 기회</a:t>
            </a:r>
            <a:r>
              <a:rPr lang="en-US" altLang="ko-KR" sz="1000" dirty="0"/>
              <a:t>/</a:t>
            </a:r>
            <a:r>
              <a:rPr lang="ko-KR" altLang="en-US" sz="1000" dirty="0"/>
              <a:t>리스크가 있는지 </a:t>
            </a:r>
            <a:r>
              <a:rPr lang="en-US" altLang="ko-KR" sz="1000" dirty="0"/>
              <a:t>2~3</a:t>
            </a:r>
            <a:r>
              <a:rPr lang="ko-KR" altLang="en-US" sz="1000" dirty="0"/>
              <a:t>문장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  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PDF</a:t>
            </a:r>
            <a:r>
              <a:rPr lang="ko-KR" altLang="en-US" sz="1000" dirty="0"/>
              <a:t>의 차트</a:t>
            </a:r>
            <a:r>
              <a:rPr lang="en-US" altLang="ko-KR" sz="1000" dirty="0"/>
              <a:t>/</a:t>
            </a:r>
            <a:r>
              <a:rPr lang="ko-KR" altLang="en-US" sz="1000" dirty="0"/>
              <a:t>표 제목 또는 페이지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방문 목적 분포’</a:t>
            </a:r>
            <a:r>
              <a:rPr lang="en-US" altLang="ko-KR" sz="1000" dirty="0"/>
              <a:t>). </a:t>
            </a:r>
            <a:r>
              <a:rPr lang="ko-KR" altLang="en-US" sz="1000" dirty="0"/>
              <a:t>페이지 인식이 불가하면 섹션 제목만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숫자가 </a:t>
            </a:r>
            <a:r>
              <a:rPr lang="en-US" altLang="ko-KR" sz="1000" dirty="0"/>
              <a:t>PDF</a:t>
            </a:r>
            <a:r>
              <a:rPr lang="ko-KR" altLang="en-US" sz="1000" dirty="0"/>
              <a:t>에 명시되지 않으면 수치를 **추정하지 말고** “수치 </a:t>
            </a:r>
            <a:r>
              <a:rPr lang="ko-KR" altLang="en-US" sz="1000" dirty="0" err="1"/>
              <a:t>미노출”로</a:t>
            </a:r>
            <a:r>
              <a:rPr lang="ko-KR" altLang="en-US" sz="1000" dirty="0"/>
              <a:t> 표기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3355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 (</a:t>
            </a:r>
            <a:r>
              <a:rPr lang="ko-KR" altLang="en-US" dirty="0"/>
              <a:t>설문조사결과분석</a:t>
            </a:r>
            <a:r>
              <a:rPr lang="en-US" altLang="ko-KR" dirty="0"/>
              <a:t>2)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01675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3) </a:t>
            </a:r>
            <a:r>
              <a:rPr lang="ko-KR" altLang="en-US" sz="1000" dirty="0"/>
              <a:t>종합 인사이트</a:t>
            </a:r>
            <a:r>
              <a:rPr lang="en-US" altLang="ko-KR" sz="1000" dirty="0"/>
              <a:t>(</a:t>
            </a:r>
            <a:r>
              <a:rPr lang="ko-KR" altLang="en-US" sz="1000" dirty="0"/>
              <a:t>마지막 섹션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한 줄 총평</a:t>
            </a:r>
            <a:r>
              <a:rPr lang="en-US" altLang="ko-KR" sz="1000" dirty="0"/>
              <a:t>: 1</a:t>
            </a:r>
            <a:r>
              <a:rPr lang="ko-KR" altLang="en-US" sz="1000" dirty="0"/>
              <a:t>문장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인사이트 </a:t>
            </a:r>
            <a:r>
              <a:rPr lang="en-US" altLang="ko-KR" sz="1000" dirty="0"/>
              <a:t>3~5</a:t>
            </a:r>
            <a:r>
              <a:rPr lang="ko-KR" altLang="en-US" sz="1000" dirty="0"/>
              <a:t>개</a:t>
            </a:r>
            <a:r>
              <a:rPr lang="en-US" altLang="ko-KR" sz="1000" dirty="0"/>
              <a:t>(</a:t>
            </a:r>
            <a:r>
              <a:rPr lang="ko-KR" altLang="en-US" sz="1000" dirty="0" err="1"/>
              <a:t>불릿</a:t>
            </a:r>
            <a:r>
              <a:rPr lang="en-US" altLang="ko-KR" sz="1000" dirty="0"/>
              <a:t>):</a:t>
            </a:r>
          </a:p>
          <a:p>
            <a:r>
              <a:rPr lang="en-US" altLang="ko-KR" sz="1000" dirty="0"/>
              <a:t>     • </a:t>
            </a:r>
            <a:r>
              <a:rPr lang="ko-KR" altLang="en-US" sz="1000" dirty="0"/>
              <a:t>관찰</a:t>
            </a:r>
            <a:r>
              <a:rPr lang="en-US" altLang="ko-KR" sz="1000" dirty="0"/>
              <a:t>: </a:t>
            </a:r>
            <a:r>
              <a:rPr lang="ko-KR" altLang="en-US" sz="1000" dirty="0"/>
              <a:t>데이터에서 바로 보이는 사실</a:t>
            </a:r>
          </a:p>
          <a:p>
            <a:r>
              <a:rPr lang="ko-KR" altLang="en-US" sz="1000" dirty="0"/>
              <a:t>     </a:t>
            </a:r>
            <a:r>
              <a:rPr lang="en-US" altLang="ko-KR" sz="1000" dirty="0"/>
              <a:t>• </a:t>
            </a:r>
            <a:r>
              <a:rPr lang="ko-KR" altLang="en-US" sz="1000" dirty="0"/>
              <a:t>해석</a:t>
            </a:r>
            <a:r>
              <a:rPr lang="en-US" altLang="ko-KR" sz="1000" dirty="0"/>
              <a:t>: </a:t>
            </a:r>
            <a:r>
              <a:rPr lang="ko-KR" altLang="en-US" sz="1000" dirty="0"/>
              <a:t>의미</a:t>
            </a:r>
            <a:r>
              <a:rPr lang="en-US" altLang="ko-KR" sz="1000" dirty="0"/>
              <a:t>/</a:t>
            </a:r>
            <a:r>
              <a:rPr lang="ko-KR" altLang="en-US" sz="1000" dirty="0"/>
              <a:t>원인 가설</a:t>
            </a:r>
          </a:p>
          <a:p>
            <a:r>
              <a:rPr lang="ko-KR" altLang="en-US" sz="1000" dirty="0"/>
              <a:t>     </a:t>
            </a:r>
            <a:r>
              <a:rPr lang="en-US" altLang="ko-KR" sz="1000" dirty="0"/>
              <a:t>• </a:t>
            </a:r>
            <a:r>
              <a:rPr lang="ko-KR" altLang="en-US" sz="1000" dirty="0"/>
              <a:t>제안</a:t>
            </a:r>
            <a:r>
              <a:rPr lang="en-US" altLang="ko-KR" sz="1000" dirty="0"/>
              <a:t>: </a:t>
            </a:r>
            <a:r>
              <a:rPr lang="ko-KR" altLang="en-US" sz="1000" dirty="0"/>
              <a:t>실행 가능한 행동</a:t>
            </a:r>
            <a:r>
              <a:rPr lang="en-US" altLang="ko-KR" sz="1000" dirty="0"/>
              <a:t>(1~2</a:t>
            </a:r>
            <a:r>
              <a:rPr lang="ko-KR" altLang="en-US" sz="1000" dirty="0"/>
              <a:t>주 내 수행 가능한 수준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   - </a:t>
            </a:r>
            <a:r>
              <a:rPr lang="ko-KR" altLang="en-US" sz="1000" dirty="0"/>
              <a:t>우선순위 </a:t>
            </a:r>
            <a:r>
              <a:rPr lang="en-US" altLang="ko-KR" sz="1000" dirty="0"/>
              <a:t>3(</a:t>
            </a:r>
            <a:r>
              <a:rPr lang="en-US" altLang="ko-KR" sz="1000" dirty="0" err="1"/>
              <a:t>Impact×Effort</a:t>
            </a:r>
            <a:r>
              <a:rPr lang="en-US" altLang="ko-KR" sz="1000" dirty="0"/>
              <a:t> </a:t>
            </a:r>
            <a:r>
              <a:rPr lang="ko-KR" altLang="en-US" sz="1000" dirty="0"/>
              <a:t>간단 표기</a:t>
            </a:r>
            <a:r>
              <a:rPr lang="en-US" altLang="ko-KR" sz="1000" dirty="0"/>
              <a:t>: High/Med/Low)</a:t>
            </a:r>
            <a:r>
              <a:rPr lang="ko-KR" altLang="en-US" sz="1000" dirty="0"/>
              <a:t>를 </a:t>
            </a:r>
            <a:r>
              <a:rPr lang="ko-KR" altLang="en-US" sz="1000" dirty="0" err="1"/>
              <a:t>불릿</a:t>
            </a:r>
            <a:r>
              <a:rPr lang="ko-KR" altLang="en-US" sz="1000" dirty="0"/>
              <a:t> 끝에 괄호로 표기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(Impact High / Effort Low)).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분석 규칙</a:t>
            </a:r>
            <a:r>
              <a:rPr lang="en-US" altLang="ko-KR" sz="1000" dirty="0"/>
              <a:t>(</a:t>
            </a:r>
            <a:r>
              <a:rPr lang="ko-KR" altLang="en-US" sz="1000" dirty="0"/>
              <a:t>정밀</a:t>
            </a:r>
            <a:r>
              <a:rPr lang="en-US" altLang="ko-KR" sz="1000" dirty="0"/>
              <a:t>)]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불확실성</a:t>
            </a:r>
            <a:r>
              <a:rPr lang="en-US" altLang="ko-KR" sz="1000" dirty="0"/>
              <a:t>: PDF</a:t>
            </a:r>
            <a:r>
              <a:rPr lang="ko-KR" altLang="en-US" sz="1000" dirty="0"/>
              <a:t>에 없는 수치</a:t>
            </a:r>
            <a:r>
              <a:rPr lang="en-US" altLang="ko-KR" sz="1000" dirty="0"/>
              <a:t>/</a:t>
            </a:r>
            <a:r>
              <a:rPr lang="ko-KR" altLang="en-US" sz="1000" dirty="0"/>
              <a:t>정보는 만들지 않는다</a:t>
            </a:r>
            <a:r>
              <a:rPr lang="en-US" altLang="ko-KR" sz="1000" dirty="0"/>
              <a:t>. “—(</a:t>
            </a:r>
            <a:r>
              <a:rPr lang="ko-KR" altLang="en-US" sz="1000" dirty="0"/>
              <a:t>수치 </a:t>
            </a:r>
            <a:r>
              <a:rPr lang="ko-KR" altLang="en-US" sz="1000" dirty="0" err="1"/>
              <a:t>미노출</a:t>
            </a:r>
            <a:r>
              <a:rPr lang="en-US" altLang="ko-KR" sz="1000" dirty="0"/>
              <a:t>)”</a:t>
            </a:r>
            <a:r>
              <a:rPr lang="ko-KR" altLang="en-US" sz="1000" dirty="0"/>
              <a:t>로 명시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라벨 정규화</a:t>
            </a:r>
            <a:r>
              <a:rPr lang="en-US" altLang="ko-KR" sz="1000" dirty="0"/>
              <a:t>: </a:t>
            </a:r>
            <a:r>
              <a:rPr lang="ko-KR" altLang="en-US" sz="1000" dirty="0"/>
              <a:t>동의어</a:t>
            </a:r>
            <a:r>
              <a:rPr lang="en-US" altLang="ko-KR" sz="1000" dirty="0"/>
              <a:t>/</a:t>
            </a:r>
            <a:r>
              <a:rPr lang="ko-KR" altLang="en-US" sz="1000" dirty="0"/>
              <a:t>표기 흔들림</a:t>
            </a:r>
            <a:r>
              <a:rPr lang="en-US" altLang="ko-KR" sz="1000" dirty="0"/>
              <a:t>(‘</a:t>
            </a:r>
            <a:r>
              <a:rPr lang="ko-KR" altLang="en-US" sz="1000" dirty="0"/>
              <a:t>이벤트</a:t>
            </a:r>
            <a:r>
              <a:rPr lang="en-US" altLang="ko-KR" sz="1000" dirty="0"/>
              <a:t>/</a:t>
            </a:r>
            <a:r>
              <a:rPr lang="ko-KR" altLang="en-US" sz="1000" dirty="0"/>
              <a:t>혜택’</a:t>
            </a:r>
            <a:r>
              <a:rPr lang="en-US" altLang="ko-KR" sz="1000" dirty="0"/>
              <a:t>, ‘</a:t>
            </a:r>
            <a:r>
              <a:rPr lang="ko-KR" altLang="en-US" sz="1000" dirty="0"/>
              <a:t>이벤트</a:t>
            </a:r>
            <a:r>
              <a:rPr lang="en-US" altLang="ko-KR" sz="1000" dirty="0"/>
              <a:t>·</a:t>
            </a:r>
            <a:r>
              <a:rPr lang="ko-KR" altLang="en-US" sz="1000" dirty="0"/>
              <a:t>혜택’</a:t>
            </a:r>
            <a:r>
              <a:rPr lang="en-US" altLang="ko-KR" sz="1000" dirty="0"/>
              <a:t>)</a:t>
            </a:r>
            <a:r>
              <a:rPr lang="ko-KR" altLang="en-US" sz="1000" dirty="0"/>
              <a:t>은 하나로 통일해 서술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척도 텍스트</a:t>
            </a:r>
            <a:r>
              <a:rPr lang="en-US" altLang="ko-KR" sz="1000" dirty="0"/>
              <a:t>(“1-</a:t>
            </a:r>
            <a:r>
              <a:rPr lang="ko-KR" altLang="en-US" sz="1000" dirty="0"/>
              <a:t>전혀 아니다”</a:t>
            </a:r>
            <a:r>
              <a:rPr lang="en-US" altLang="ko-KR" sz="1000" dirty="0"/>
              <a:t>)</a:t>
            </a:r>
            <a:r>
              <a:rPr lang="ko-KR" altLang="en-US" sz="1000" dirty="0"/>
              <a:t>는 숫자만 사용하여 평균</a:t>
            </a:r>
            <a:r>
              <a:rPr lang="en-US" altLang="ko-KR" sz="1000" dirty="0"/>
              <a:t>/</a:t>
            </a:r>
            <a:r>
              <a:rPr lang="ko-KR" altLang="en-US" sz="1000" dirty="0"/>
              <a:t>등급을 설명하되</a:t>
            </a:r>
            <a:r>
              <a:rPr lang="en-US" altLang="ko-KR" sz="1000" dirty="0"/>
              <a:t>, </a:t>
            </a:r>
            <a:r>
              <a:rPr lang="ko-KR" altLang="en-US" sz="1000" dirty="0"/>
              <a:t>라벨은 본문 문장에 괄호로 예시 가능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자유 의견 인용 시 개인정보</a:t>
            </a:r>
            <a:r>
              <a:rPr lang="en-US" altLang="ko-KR" sz="1000" dirty="0"/>
              <a:t>/</a:t>
            </a:r>
            <a:r>
              <a:rPr lang="ko-KR" altLang="en-US" sz="1000" dirty="0"/>
              <a:t>식별자는 </a:t>
            </a:r>
            <a:r>
              <a:rPr lang="ko-KR" altLang="en-US" sz="1000" dirty="0" err="1"/>
              <a:t>마스킹</a:t>
            </a:r>
            <a:r>
              <a:rPr lang="en-US" altLang="ko-KR" sz="1000" dirty="0"/>
              <a:t>(</a:t>
            </a:r>
            <a:r>
              <a:rPr lang="ko-KR" altLang="en-US" sz="1000" dirty="0"/>
              <a:t>이니셜</a:t>
            </a:r>
            <a:r>
              <a:rPr lang="en-US" altLang="ko-KR" sz="1000" dirty="0"/>
              <a:t>, ‘…’ </a:t>
            </a:r>
            <a:r>
              <a:rPr lang="ko-KR" altLang="en-US" sz="1000" dirty="0"/>
              <a:t>처리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벤치마크가 주어지면 “목표 대비 </a:t>
            </a:r>
            <a:r>
              <a:rPr lang="en-US" altLang="ko-KR" sz="1000" dirty="0"/>
              <a:t>+/−</a:t>
            </a:r>
            <a:r>
              <a:rPr lang="ko-KR" altLang="en-US" sz="1000" dirty="0" err="1"/>
              <a:t>값”과</a:t>
            </a:r>
            <a:r>
              <a:rPr lang="ko-KR" altLang="en-US" sz="1000" dirty="0"/>
              <a:t> 방향</a:t>
            </a:r>
            <a:r>
              <a:rPr lang="en-US" altLang="ko-KR" sz="1000" dirty="0"/>
              <a:t>(▲/▼)</a:t>
            </a:r>
            <a:r>
              <a:rPr lang="ko-KR" altLang="en-US" sz="1000" dirty="0"/>
              <a:t>을 문장에 포함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대화 흐름</a:t>
            </a:r>
            <a:r>
              <a:rPr lang="en-US" altLang="ko-KR" sz="1000" dirty="0"/>
              <a:t>]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시작</a:t>
            </a:r>
            <a:r>
              <a:rPr lang="en-US" altLang="ko-KR" sz="1000" dirty="0"/>
              <a:t>: “PDF</a:t>
            </a:r>
            <a:r>
              <a:rPr lang="ko-KR" altLang="en-US" sz="1000" dirty="0"/>
              <a:t>를 올려 주세요</a:t>
            </a:r>
            <a:r>
              <a:rPr lang="en-US" altLang="ko-KR" sz="1000" dirty="0"/>
              <a:t>. </a:t>
            </a:r>
            <a:r>
              <a:rPr lang="ko-KR" altLang="en-US" sz="1000" dirty="0"/>
              <a:t>벤치마크가 있다면 함께 알려 주세요</a:t>
            </a:r>
            <a:r>
              <a:rPr lang="en-US" altLang="ko-KR" sz="1000" dirty="0"/>
              <a:t>.”</a:t>
            </a:r>
            <a:r>
              <a:rPr lang="ko-KR" altLang="en-US" sz="1000" dirty="0"/>
              <a:t>라고 안내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PDF</a:t>
            </a:r>
            <a:r>
              <a:rPr lang="ko-KR" altLang="en-US" sz="1000" dirty="0"/>
              <a:t>가 </a:t>
            </a:r>
            <a:r>
              <a:rPr lang="ko-KR" altLang="en-US" sz="1000" dirty="0" err="1"/>
              <a:t>업로드되면</a:t>
            </a:r>
            <a:r>
              <a:rPr lang="en-US" altLang="ko-KR" sz="1000" dirty="0"/>
              <a:t>, </a:t>
            </a:r>
            <a:r>
              <a:rPr lang="ko-KR" altLang="en-US" sz="1000" dirty="0"/>
              <a:t>문항</a:t>
            </a:r>
            <a:r>
              <a:rPr lang="en-US" altLang="ko-KR" sz="1000" dirty="0"/>
              <a:t>-</a:t>
            </a:r>
            <a:r>
              <a:rPr lang="ko-KR" altLang="en-US" sz="1000" dirty="0"/>
              <a:t>차트 매핑 힌트를 요청</a:t>
            </a:r>
            <a:r>
              <a:rPr lang="en-US" altLang="ko-KR" sz="1000" dirty="0"/>
              <a:t>(</a:t>
            </a:r>
            <a:r>
              <a:rPr lang="ko-KR" altLang="en-US" sz="1000" dirty="0"/>
              <a:t>선택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분석 후</a:t>
            </a:r>
            <a:r>
              <a:rPr lang="en-US" altLang="ko-KR" sz="1000" dirty="0"/>
              <a:t>, **</a:t>
            </a:r>
            <a:r>
              <a:rPr lang="ko-KR" altLang="en-US" sz="1000" dirty="0"/>
              <a:t>텍스트 보고서 형식**으로만 출력</a:t>
            </a:r>
            <a:r>
              <a:rPr lang="en-US" altLang="ko-KR" sz="1000" dirty="0"/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[</a:t>
            </a:r>
            <a:r>
              <a:rPr lang="ko-KR" altLang="en-US" sz="1000" dirty="0"/>
              <a:t>예시 출력</a:t>
            </a:r>
            <a:r>
              <a:rPr lang="en-US" altLang="ko-KR" sz="1000" dirty="0"/>
              <a:t>(</a:t>
            </a:r>
            <a:r>
              <a:rPr lang="ko-KR" altLang="en-US" sz="1000" dirty="0"/>
              <a:t>형식 샘플</a:t>
            </a:r>
            <a:r>
              <a:rPr lang="en-US" altLang="ko-KR" sz="1000" dirty="0"/>
              <a:t>; </a:t>
            </a:r>
            <a:r>
              <a:rPr lang="ko-KR" altLang="en-US" sz="1000" dirty="0"/>
              <a:t>실제 수치는 </a:t>
            </a:r>
            <a:r>
              <a:rPr lang="en-US" altLang="ko-KR" sz="1000" dirty="0"/>
              <a:t>PDF</a:t>
            </a:r>
            <a:r>
              <a:rPr lang="ko-KR" altLang="en-US" sz="1000" dirty="0"/>
              <a:t>에서 추출</a:t>
            </a:r>
            <a:r>
              <a:rPr lang="en-US" altLang="ko-KR" sz="1000" dirty="0"/>
              <a:t>)]</a:t>
            </a:r>
          </a:p>
          <a:p>
            <a:r>
              <a:rPr lang="ko-KR" altLang="en-US" sz="1000" dirty="0"/>
              <a:t>보고서 개요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제목</a:t>
            </a:r>
            <a:r>
              <a:rPr lang="en-US" altLang="ko-KR" sz="1000" dirty="0"/>
              <a:t>: </a:t>
            </a:r>
            <a:r>
              <a:rPr lang="ko-KR" altLang="en-US" sz="1000" dirty="0"/>
              <a:t>온라인몰 이용 설문 분석 요약</a:t>
            </a:r>
            <a:r>
              <a:rPr lang="en-US" altLang="ko-KR" sz="1000" dirty="0"/>
              <a:t>(2025-08)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데이터 출처</a:t>
            </a:r>
            <a:r>
              <a:rPr lang="en-US" altLang="ko-KR" sz="1000" dirty="0"/>
              <a:t>: Looker Studio PDF (p.2~5)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응답 수</a:t>
            </a:r>
            <a:r>
              <a:rPr lang="en-US" altLang="ko-KR" sz="1000" dirty="0"/>
              <a:t>: 412</a:t>
            </a:r>
            <a:r>
              <a:rPr lang="ko-KR" altLang="en-US" sz="1000" dirty="0"/>
              <a:t>명</a:t>
            </a:r>
          </a:p>
          <a:p>
            <a:endParaRPr lang="ko-KR" altLang="en-US" sz="1000" dirty="0"/>
          </a:p>
          <a:p>
            <a:r>
              <a:rPr lang="ko-KR" altLang="en-US" sz="1000" dirty="0"/>
              <a:t>문항별 분석</a:t>
            </a:r>
          </a:p>
          <a:p>
            <a:r>
              <a:rPr lang="en-US" altLang="ko-KR" sz="1000" dirty="0"/>
              <a:t>Q1. </a:t>
            </a:r>
            <a:r>
              <a:rPr lang="ko-KR" altLang="en-US" sz="1000" dirty="0"/>
              <a:t>최근 자사 온라인몰 방문의 주된 목적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구매 목적이 최다로 전환 지향성이 높습니다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Top1=</a:t>
            </a:r>
            <a:r>
              <a:rPr lang="ko-KR" altLang="en-US" sz="1000" dirty="0"/>
              <a:t>구매 </a:t>
            </a:r>
            <a:r>
              <a:rPr lang="en-US" altLang="ko-KR" sz="1000" dirty="0"/>
              <a:t>48.3%(N=412), Top2=</a:t>
            </a:r>
            <a:r>
              <a:rPr lang="ko-KR" altLang="en-US" sz="1000" dirty="0"/>
              <a:t>상품 탐색 </a:t>
            </a:r>
            <a:r>
              <a:rPr lang="en-US" altLang="ko-KR" sz="1000" dirty="0"/>
              <a:t>36.1%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탐색 단계에서 구매로 이어지는 </a:t>
            </a:r>
            <a:r>
              <a:rPr lang="ko-KR" altLang="en-US" sz="1000" dirty="0" err="1"/>
              <a:t>연결부</a:t>
            </a:r>
            <a:r>
              <a:rPr lang="ko-KR" altLang="en-US" sz="1000" dirty="0"/>
              <a:t> 최적화가 효과적입니다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이벤트 유입은 비중이 낮아 효율 중심 개선이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p.2 ‘</a:t>
            </a:r>
            <a:r>
              <a:rPr lang="ko-KR" altLang="en-US" sz="1000" dirty="0"/>
              <a:t>방문 목적 분포’</a:t>
            </a:r>
          </a:p>
        </p:txBody>
      </p:sp>
    </p:spTree>
    <p:extLst>
      <p:ext uri="{BB962C8B-B14F-4D97-AF65-F5344CB8AC3E}">
        <p14:creationId xmlns:p14="http://schemas.microsoft.com/office/powerpoint/2010/main" val="1489156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프롬프트</a:t>
            </a:r>
            <a:r>
              <a:rPr lang="en-US" altLang="ko-KR" dirty="0"/>
              <a:t> (</a:t>
            </a:r>
            <a:r>
              <a:rPr lang="ko-KR" altLang="en-US" dirty="0"/>
              <a:t>설문조사결과분석</a:t>
            </a:r>
            <a:r>
              <a:rPr lang="en-US" altLang="ko-KR" dirty="0"/>
              <a:t>3)</a:t>
            </a:r>
            <a:endParaRPr lang="ko-KR" altLang="en-US" dirty="0"/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0834D0-3218-764A-2D0A-387A6F87D0A7}"/>
              </a:ext>
            </a:extLst>
          </p:cNvPr>
          <p:cNvSpPr txBox="1"/>
          <p:nvPr/>
        </p:nvSpPr>
        <p:spPr>
          <a:xfrm>
            <a:off x="457200" y="1094824"/>
            <a:ext cx="8229600" cy="517064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000" dirty="0"/>
              <a:t>Q2. </a:t>
            </a:r>
            <a:r>
              <a:rPr lang="ko-KR" altLang="en-US" sz="1000" dirty="0"/>
              <a:t>전반적으로 자사 온라인몰 이용에 만족했다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4.2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높음</a:t>
            </a:r>
            <a:r>
              <a:rPr lang="en-US" altLang="ko-KR" sz="1000" dirty="0"/>
              <a:t>)</a:t>
            </a:r>
            <a:r>
              <a:rPr lang="ko-KR" altLang="en-US" sz="1000" dirty="0"/>
              <a:t>으로 목표</a:t>
            </a:r>
            <a:r>
              <a:rPr lang="en-US" altLang="ko-KR" sz="1000" dirty="0"/>
              <a:t>(4.0)</a:t>
            </a:r>
            <a:r>
              <a:rPr lang="ko-KR" altLang="en-US" sz="1000" dirty="0"/>
              <a:t>를 상회합니다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4.2</a:t>
            </a:r>
            <a:r>
              <a:rPr lang="ko-KR" altLang="en-US" sz="1000" dirty="0"/>
              <a:t>점</a:t>
            </a:r>
            <a:r>
              <a:rPr lang="en-US" altLang="ko-KR" sz="1000" dirty="0"/>
              <a:t>, N=410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전반 만족은 양호하나 하위 코호트</a:t>
            </a:r>
            <a:r>
              <a:rPr lang="en-US" altLang="ko-KR" sz="1000" dirty="0"/>
              <a:t>(</a:t>
            </a:r>
            <a:r>
              <a:rPr lang="ko-KR" altLang="en-US" sz="1000" dirty="0"/>
              <a:t>모바일</a:t>
            </a:r>
            <a:r>
              <a:rPr lang="en-US" altLang="ko-KR" sz="1000" dirty="0"/>
              <a:t>, </a:t>
            </a:r>
            <a:r>
              <a:rPr lang="ko-KR" altLang="en-US" sz="1000" dirty="0"/>
              <a:t>신규</a:t>
            </a:r>
            <a:r>
              <a:rPr lang="en-US" altLang="ko-KR" sz="1000" dirty="0"/>
              <a:t>) </a:t>
            </a:r>
            <a:r>
              <a:rPr lang="ko-KR" altLang="en-US" sz="1000" dirty="0"/>
              <a:t>점검이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만족도 평균’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Q3. </a:t>
            </a:r>
            <a:r>
              <a:rPr lang="ko-KR" altLang="en-US" sz="1000" dirty="0"/>
              <a:t>상품 정보</a:t>
            </a:r>
            <a:r>
              <a:rPr lang="en-US" altLang="ko-KR" sz="1000" dirty="0"/>
              <a:t>(</a:t>
            </a:r>
            <a:r>
              <a:rPr lang="ko-KR" altLang="en-US" sz="1000" dirty="0"/>
              <a:t>상세</a:t>
            </a:r>
            <a:r>
              <a:rPr lang="en-US" altLang="ko-KR" sz="1000" dirty="0"/>
              <a:t>·</a:t>
            </a:r>
            <a:r>
              <a:rPr lang="ko-KR" altLang="en-US" sz="1000" dirty="0"/>
              <a:t>이미지</a:t>
            </a:r>
            <a:r>
              <a:rPr lang="en-US" altLang="ko-KR" sz="1000" dirty="0"/>
              <a:t>)</a:t>
            </a:r>
            <a:r>
              <a:rPr lang="ko-KR" altLang="en-US" sz="1000" dirty="0"/>
              <a:t>가 정확하고 충분했다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3.8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보통</a:t>
            </a:r>
            <a:r>
              <a:rPr lang="en-US" altLang="ko-KR" sz="1000" dirty="0"/>
              <a:t>)</a:t>
            </a:r>
            <a:r>
              <a:rPr lang="ko-KR" altLang="en-US" sz="1000" dirty="0"/>
              <a:t>으로 이미지</a:t>
            </a:r>
            <a:r>
              <a:rPr lang="en-US" altLang="ko-KR" sz="1000" dirty="0"/>
              <a:t>·</a:t>
            </a:r>
            <a:r>
              <a:rPr lang="ko-KR" altLang="en-US" sz="1000" dirty="0"/>
              <a:t>스펙 보강 여지가 큽니다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3.8</a:t>
            </a:r>
            <a:r>
              <a:rPr lang="ko-KR" altLang="en-US" sz="1000" dirty="0"/>
              <a:t>점</a:t>
            </a:r>
            <a:r>
              <a:rPr lang="en-US" altLang="ko-KR" sz="1000" dirty="0"/>
              <a:t>, N=409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정보 신뢰도는 구매 결정에 직접 영향합니다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표준 가이드 정비가 필요합니다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정보 </a:t>
            </a:r>
            <a:r>
              <a:rPr lang="ko-KR" altLang="en-US" sz="1000" dirty="0" err="1"/>
              <a:t>충실성</a:t>
            </a:r>
            <a:r>
              <a:rPr lang="ko-KR" altLang="en-US" sz="1000" dirty="0"/>
              <a:t>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Q4. </a:t>
            </a:r>
            <a:r>
              <a:rPr lang="ko-KR" altLang="en-US" sz="1000" dirty="0"/>
              <a:t>배송 과정이 전반적으로 원활했다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3.6</a:t>
            </a:r>
            <a:r>
              <a:rPr lang="ko-KR" altLang="en-US" sz="1000" dirty="0"/>
              <a:t>점</a:t>
            </a:r>
            <a:r>
              <a:rPr lang="en-US" altLang="ko-KR" sz="1000" dirty="0"/>
              <a:t>(</a:t>
            </a:r>
            <a:r>
              <a:rPr lang="ko-KR" altLang="en-US" sz="1000" dirty="0"/>
              <a:t>보통</a:t>
            </a:r>
            <a:r>
              <a:rPr lang="en-US" altLang="ko-KR" sz="1000" dirty="0"/>
              <a:t>)</a:t>
            </a:r>
            <a:r>
              <a:rPr lang="ko-KR" altLang="en-US" sz="1000" dirty="0"/>
              <a:t>으로 프로세스 개선 필요 신호입니다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평균 </a:t>
            </a:r>
            <a:r>
              <a:rPr lang="en-US" altLang="ko-KR" sz="1000" dirty="0"/>
              <a:t>3.6</a:t>
            </a:r>
            <a:r>
              <a:rPr lang="ko-KR" altLang="en-US" sz="1000" dirty="0"/>
              <a:t>점</a:t>
            </a:r>
            <a:r>
              <a:rPr lang="en-US" altLang="ko-KR" sz="1000" dirty="0"/>
              <a:t>, N=408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배송 추적 </a:t>
            </a:r>
            <a:r>
              <a:rPr lang="en-US" altLang="ko-KR" sz="1000" dirty="0"/>
              <a:t>UI</a:t>
            </a:r>
            <a:r>
              <a:rPr lang="ko-KR" altLang="en-US" sz="1000" dirty="0"/>
              <a:t>와 약속일 고지가 불만의 주된 원인일 수 있습니다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p.3 ‘</a:t>
            </a:r>
            <a:r>
              <a:rPr lang="ko-KR" altLang="en-US" sz="1000" dirty="0"/>
              <a:t>배송’</a:t>
            </a:r>
          </a:p>
          <a:p>
            <a:endParaRPr lang="ko-KR" altLang="en-US" sz="1000" dirty="0"/>
          </a:p>
          <a:p>
            <a:r>
              <a:rPr lang="en-US" altLang="ko-KR" sz="1000" dirty="0"/>
              <a:t>Q5. </a:t>
            </a:r>
            <a:r>
              <a:rPr lang="ko-KR" altLang="en-US" sz="1000" dirty="0"/>
              <a:t>재구매</a:t>
            </a:r>
            <a:r>
              <a:rPr lang="en-US" altLang="ko-KR" sz="1000" dirty="0"/>
              <a:t>/</a:t>
            </a:r>
            <a:r>
              <a:rPr lang="ko-KR" altLang="en-US" sz="1000" dirty="0"/>
              <a:t>추천을 위해 개선되었으면 하는 점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한 줄 결론</a:t>
            </a:r>
            <a:r>
              <a:rPr lang="en-US" altLang="ko-KR" sz="1000" dirty="0"/>
              <a:t>: ‘</a:t>
            </a:r>
            <a:r>
              <a:rPr lang="ko-KR" altLang="en-US" sz="1000" dirty="0"/>
              <a:t>배송</a:t>
            </a:r>
            <a:r>
              <a:rPr lang="en-US" altLang="ko-KR" sz="1000" dirty="0"/>
              <a:t>/</a:t>
            </a:r>
            <a:r>
              <a:rPr lang="ko-KR" altLang="en-US" sz="1000" dirty="0"/>
              <a:t>환불’ 키워드 빈도가 높습니다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핵심 수치</a:t>
            </a:r>
            <a:r>
              <a:rPr lang="en-US" altLang="ko-KR" sz="1000" dirty="0"/>
              <a:t>: </a:t>
            </a:r>
            <a:r>
              <a:rPr lang="ko-KR" altLang="en-US" sz="1000" dirty="0"/>
              <a:t>배송 </a:t>
            </a:r>
            <a:r>
              <a:rPr lang="en-US" altLang="ko-KR" sz="1000" dirty="0"/>
              <a:t>23</a:t>
            </a:r>
            <a:r>
              <a:rPr lang="ko-KR" altLang="en-US" sz="1000" dirty="0"/>
              <a:t>건</a:t>
            </a:r>
            <a:r>
              <a:rPr lang="en-US" altLang="ko-KR" sz="1000" dirty="0"/>
              <a:t>, </a:t>
            </a:r>
            <a:r>
              <a:rPr lang="ko-KR" altLang="en-US" sz="1000" dirty="0"/>
              <a:t>환불 </a:t>
            </a:r>
            <a:r>
              <a:rPr lang="en-US" altLang="ko-KR" sz="1000" dirty="0"/>
              <a:t>9</a:t>
            </a:r>
            <a:r>
              <a:rPr lang="ko-KR" altLang="en-US" sz="1000" dirty="0"/>
              <a:t>건</a:t>
            </a:r>
            <a:r>
              <a:rPr lang="en-US" altLang="ko-KR" sz="1000" dirty="0"/>
              <a:t>(</a:t>
            </a:r>
            <a:r>
              <a:rPr lang="ko-KR" altLang="en-US" sz="1000" dirty="0"/>
              <a:t>수치 </a:t>
            </a:r>
            <a:r>
              <a:rPr lang="ko-KR" altLang="en-US" sz="1000" dirty="0" err="1"/>
              <a:t>미노출</a:t>
            </a:r>
            <a:r>
              <a:rPr lang="ko-KR" altLang="en-US" sz="1000" dirty="0"/>
              <a:t> 시 “</a:t>
            </a:r>
            <a:r>
              <a:rPr lang="en-US" altLang="ko-KR" sz="1000" dirty="0"/>
              <a:t>—”)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해석</a:t>
            </a:r>
            <a:r>
              <a:rPr lang="en-US" altLang="ko-KR" sz="1000" dirty="0"/>
              <a:t>/</a:t>
            </a:r>
            <a:r>
              <a:rPr lang="ko-KR" altLang="en-US" sz="1000" dirty="0"/>
              <a:t>시사점</a:t>
            </a:r>
            <a:r>
              <a:rPr lang="en-US" altLang="ko-KR" sz="1000" dirty="0"/>
              <a:t>: </a:t>
            </a:r>
            <a:r>
              <a:rPr lang="ko-KR" altLang="en-US" sz="1000" dirty="0"/>
              <a:t>체감 불편이 명확하므로 </a:t>
            </a:r>
            <a:r>
              <a:rPr lang="en-US" altLang="ko-KR" sz="1000" dirty="0"/>
              <a:t>CS/</a:t>
            </a:r>
            <a:r>
              <a:rPr lang="ko-KR" altLang="en-US" sz="1000" dirty="0"/>
              <a:t>배송 공정 개선이 우선입니다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근거</a:t>
            </a:r>
            <a:r>
              <a:rPr lang="en-US" altLang="ko-KR" sz="1000" dirty="0"/>
              <a:t>: p.4 ‘</a:t>
            </a:r>
            <a:r>
              <a:rPr lang="ko-KR" altLang="en-US" sz="1000" dirty="0"/>
              <a:t>자유 의견’</a:t>
            </a:r>
          </a:p>
          <a:p>
            <a:endParaRPr lang="ko-KR" altLang="en-US" sz="1000" dirty="0"/>
          </a:p>
          <a:p>
            <a:r>
              <a:rPr lang="ko-KR" altLang="en-US" sz="1000" dirty="0"/>
              <a:t>종합 인사이트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총평</a:t>
            </a:r>
            <a:r>
              <a:rPr lang="en-US" altLang="ko-KR" sz="1000" dirty="0"/>
              <a:t>: </a:t>
            </a:r>
            <a:r>
              <a:rPr lang="ko-KR" altLang="en-US" sz="1000" dirty="0"/>
              <a:t>전반 만족은 높으나 정보</a:t>
            </a:r>
            <a:r>
              <a:rPr lang="en-US" altLang="ko-KR" sz="1000" dirty="0"/>
              <a:t>·</a:t>
            </a:r>
            <a:r>
              <a:rPr lang="ko-KR" altLang="en-US" sz="1000" dirty="0"/>
              <a:t>배송 단계에서 이탈 위험이 보입니다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- </a:t>
            </a:r>
            <a:r>
              <a:rPr lang="ko-KR" altLang="en-US" sz="1000" dirty="0"/>
              <a:t>인사이트</a:t>
            </a:r>
          </a:p>
          <a:p>
            <a:r>
              <a:rPr lang="ko-KR" altLang="en-US" sz="1000" dirty="0"/>
              <a:t>  </a:t>
            </a:r>
            <a:r>
              <a:rPr lang="en-US" altLang="ko-KR" sz="1000" dirty="0"/>
              <a:t>• </a:t>
            </a:r>
            <a:r>
              <a:rPr lang="ko-KR" altLang="en-US" sz="1000" dirty="0"/>
              <a:t>구매 목적 비중이 높아 전환 </a:t>
            </a:r>
            <a:r>
              <a:rPr lang="ko-KR" altLang="en-US" sz="1000" dirty="0" err="1"/>
              <a:t>퍼널</a:t>
            </a:r>
            <a:r>
              <a:rPr lang="ko-KR" altLang="en-US" sz="1000" dirty="0"/>
              <a:t> 최적화 </a:t>
            </a:r>
            <a:r>
              <a:rPr lang="en-US" altLang="ko-KR" sz="1000" dirty="0"/>
              <a:t>ROI</a:t>
            </a:r>
            <a:r>
              <a:rPr lang="ko-KR" altLang="en-US" sz="1000" dirty="0"/>
              <a:t>가 큼</a:t>
            </a:r>
            <a:r>
              <a:rPr lang="en-US" altLang="ko-KR" sz="1000" dirty="0"/>
              <a:t>. (Impact High / Effort Medium)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상품 상세 이미지</a:t>
            </a:r>
            <a:r>
              <a:rPr lang="en-US" altLang="ko-KR" sz="1000" dirty="0"/>
              <a:t>·</a:t>
            </a:r>
            <a:r>
              <a:rPr lang="ko-KR" altLang="en-US" sz="1000" dirty="0"/>
              <a:t>스펙 표준화로 정보 신뢰도 개선 여지</a:t>
            </a:r>
            <a:r>
              <a:rPr lang="en-US" altLang="ko-KR" sz="1000" dirty="0"/>
              <a:t>. (Impact High / Effort Low)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배송 추적 가시성</a:t>
            </a:r>
            <a:r>
              <a:rPr lang="en-US" altLang="ko-KR" sz="1000" dirty="0"/>
              <a:t>/</a:t>
            </a:r>
            <a:r>
              <a:rPr lang="ko-KR" altLang="en-US" sz="1000" dirty="0"/>
              <a:t>약속일 명확화가 만족도 상향 레버</a:t>
            </a:r>
            <a:r>
              <a:rPr lang="en-US" altLang="ko-KR" sz="1000" dirty="0"/>
              <a:t>. (Impact High / Effort Medium)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이벤트 유입은 선택과 집중 필요</a:t>
            </a:r>
            <a:r>
              <a:rPr lang="en-US" altLang="ko-KR" sz="1000" dirty="0"/>
              <a:t>. (Impact Medium / Effort Low)</a:t>
            </a:r>
          </a:p>
          <a:p>
            <a:r>
              <a:rPr lang="en-US" altLang="ko-KR" sz="1000" dirty="0"/>
              <a:t>  • </a:t>
            </a:r>
            <a:r>
              <a:rPr lang="ko-KR" altLang="en-US" sz="1000" dirty="0"/>
              <a:t>하위 코호트</a:t>
            </a:r>
            <a:r>
              <a:rPr lang="en-US" altLang="ko-KR" sz="1000" dirty="0"/>
              <a:t>(</a:t>
            </a:r>
            <a:r>
              <a:rPr lang="ko-KR" altLang="en-US" sz="1000" dirty="0"/>
              <a:t>모바일</a:t>
            </a:r>
            <a:r>
              <a:rPr lang="en-US" altLang="ko-KR" sz="1000" dirty="0"/>
              <a:t>/</a:t>
            </a:r>
            <a:r>
              <a:rPr lang="ko-KR" altLang="en-US" sz="1000" dirty="0"/>
              <a:t>신규</a:t>
            </a:r>
            <a:r>
              <a:rPr lang="en-US" altLang="ko-KR" sz="1000" dirty="0"/>
              <a:t>) </a:t>
            </a:r>
            <a:r>
              <a:rPr lang="ko-KR" altLang="en-US" sz="1000" dirty="0"/>
              <a:t>별 점검 권장</a:t>
            </a:r>
            <a:r>
              <a:rPr lang="en-US" altLang="ko-KR" sz="1000" dirty="0"/>
              <a:t>. (Impact Medium / Effort Medium)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015760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en-US" altLang="ko-KR" dirty="0"/>
              <a:t>GPT</a:t>
            </a:r>
            <a:r>
              <a:rPr lang="ko-KR" altLang="en-US" dirty="0"/>
              <a:t>를 이용한 설문내용 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53A737-443E-BC9D-5755-7A549DB2D64D}"/>
              </a:ext>
            </a:extLst>
          </p:cNvPr>
          <p:cNvSpPr txBox="1"/>
          <p:nvPr/>
        </p:nvSpPr>
        <p:spPr>
          <a:xfrm>
            <a:off x="457203" y="1107911"/>
            <a:ext cx="8229597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구글시트</a:t>
            </a:r>
            <a:r>
              <a:rPr lang="en-US" altLang="ko-KR" dirty="0"/>
              <a:t> </a:t>
            </a:r>
            <a:r>
              <a:rPr lang="ko-KR" altLang="en-US" dirty="0"/>
              <a:t>설문문항 디자이너 </a:t>
            </a:r>
            <a:r>
              <a:rPr lang="en-US" altLang="ko-KR" dirty="0"/>
              <a:t>GPT</a:t>
            </a:r>
            <a:r>
              <a:rPr lang="ko-KR" altLang="en-US" dirty="0"/>
              <a:t>를 이용하여 설문 내용을 생성한다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35E6AC-DBC0-31EE-09E5-7470B12A0DA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60106" y="1745433"/>
            <a:ext cx="6623787" cy="4879083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01D3C03-D587-D6D1-78FE-53ABD5C6111F}"/>
              </a:ext>
            </a:extLst>
          </p:cNvPr>
          <p:cNvSpPr/>
          <p:nvPr/>
        </p:nvSpPr>
        <p:spPr>
          <a:xfrm>
            <a:off x="6148251" y="2185851"/>
            <a:ext cx="1735642" cy="39841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451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en-US" altLang="ko-KR" dirty="0"/>
              <a:t>GPT</a:t>
            </a:r>
            <a:r>
              <a:rPr lang="ko-KR" altLang="en-US" dirty="0"/>
              <a:t>를 이용한 설문내용 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480E4BA-257F-B10E-CB77-27FA231427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7701" y="1392962"/>
            <a:ext cx="6848598" cy="4946878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C527BFF-3CB7-7AC8-79AA-FDA518B56595}"/>
              </a:ext>
            </a:extLst>
          </p:cNvPr>
          <p:cNvSpPr/>
          <p:nvPr/>
        </p:nvSpPr>
        <p:spPr>
          <a:xfrm>
            <a:off x="7366758" y="2708366"/>
            <a:ext cx="629541" cy="5399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723B358-F16D-FB84-0DA4-4BC4A8853107}"/>
              </a:ext>
            </a:extLst>
          </p:cNvPr>
          <p:cNvSpPr/>
          <p:nvPr/>
        </p:nvSpPr>
        <p:spPr>
          <a:xfrm>
            <a:off x="7403423" y="5895703"/>
            <a:ext cx="629541" cy="44413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527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en-US" altLang="ko-KR" dirty="0"/>
              <a:t>GPT</a:t>
            </a:r>
            <a:r>
              <a:rPr lang="ko-KR" altLang="en-US" dirty="0"/>
              <a:t>를 이용한 설문내용 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7C67BE0-E681-A48B-F5B0-5A5CC6B8B5A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3347" y="1649073"/>
            <a:ext cx="5837307" cy="4516232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87CDFF0-E450-C3E4-B681-16D2F8716E6B}"/>
              </a:ext>
            </a:extLst>
          </p:cNvPr>
          <p:cNvSpPr/>
          <p:nvPr/>
        </p:nvSpPr>
        <p:spPr>
          <a:xfrm>
            <a:off x="7228114" y="1623312"/>
            <a:ext cx="262539" cy="2490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7C6BD0-3A6B-E2DB-9F3B-1B2E2EC41FEE}"/>
              </a:ext>
            </a:extLst>
          </p:cNvPr>
          <p:cNvSpPr txBox="1"/>
          <p:nvPr/>
        </p:nvSpPr>
        <p:spPr>
          <a:xfrm>
            <a:off x="457200" y="1099102"/>
            <a:ext cx="8229597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생성된 결과에서 </a:t>
            </a:r>
            <a:r>
              <a:rPr lang="en-US" altLang="ko-KR" dirty="0"/>
              <a:t>[</a:t>
            </a:r>
            <a:r>
              <a:rPr lang="ko-KR" altLang="en-US" dirty="0"/>
              <a:t>복사</a:t>
            </a:r>
            <a:r>
              <a:rPr lang="en-US" altLang="ko-KR" dirty="0"/>
              <a:t>] </a:t>
            </a:r>
            <a:r>
              <a:rPr lang="ko-KR" altLang="en-US" dirty="0"/>
              <a:t>아이콘을 클릭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EBD525-670D-5E53-E669-C7D0F1D08DD2}"/>
              </a:ext>
            </a:extLst>
          </p:cNvPr>
          <p:cNvSpPr txBox="1"/>
          <p:nvPr/>
        </p:nvSpPr>
        <p:spPr>
          <a:xfrm>
            <a:off x="457199" y="6345944"/>
            <a:ext cx="8229597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복사한 내용을 구글시트에 복사</a:t>
            </a:r>
          </a:p>
        </p:txBody>
      </p:sp>
    </p:spTree>
    <p:extLst>
      <p:ext uri="{BB962C8B-B14F-4D97-AF65-F5344CB8AC3E}">
        <p14:creationId xmlns:p14="http://schemas.microsoft.com/office/powerpoint/2010/main" val="2590953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6675E9-EA30-4D8A-6E03-5BA754CFA806}"/>
              </a:ext>
            </a:extLst>
          </p:cNvPr>
          <p:cNvSpPr txBox="1"/>
          <p:nvPr/>
        </p:nvSpPr>
        <p:spPr>
          <a:xfrm>
            <a:off x="505097" y="258375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구글시트 메뉴에서 </a:t>
            </a:r>
            <a:r>
              <a:rPr lang="en-US" altLang="ko-KR" dirty="0"/>
              <a:t>[</a:t>
            </a:r>
            <a:r>
              <a:rPr lang="ko-KR" altLang="en-US" dirty="0"/>
              <a:t>확장프로그램</a:t>
            </a:r>
            <a:r>
              <a:rPr lang="en-US" altLang="ko-KR" dirty="0"/>
              <a:t>] – [Apps</a:t>
            </a:r>
            <a:r>
              <a:rPr lang="ko-KR" altLang="en-US" dirty="0"/>
              <a:t> </a:t>
            </a:r>
            <a:r>
              <a:rPr lang="en-US" altLang="ko-KR" dirty="0"/>
              <a:t>Script] </a:t>
            </a:r>
            <a:r>
              <a:rPr lang="ko-KR" altLang="en-US" dirty="0"/>
              <a:t>클릭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44E6DC5-41AD-46FD-C764-E42F97A1C1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95397"/>
            <a:ext cx="8325394" cy="110007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462D277-415C-9B26-B228-CD914AFD9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468" y="3329191"/>
            <a:ext cx="7259063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060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6675E9-EA30-4D8A-6E03-5BA754CFA806}"/>
              </a:ext>
            </a:extLst>
          </p:cNvPr>
          <p:cNvSpPr txBox="1"/>
          <p:nvPr/>
        </p:nvSpPr>
        <p:spPr>
          <a:xfrm>
            <a:off x="457199" y="1079745"/>
            <a:ext cx="8229600" cy="147732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function </a:t>
            </a:r>
            <a:r>
              <a:rPr lang="en-US" altLang="ko-KR" dirty="0" err="1"/>
              <a:t>myFunction</a:t>
            </a:r>
            <a:r>
              <a:rPr lang="en-US" altLang="ko-KR" dirty="0"/>
              <a:t>() {</a:t>
            </a:r>
          </a:p>
          <a:p>
            <a:r>
              <a:rPr lang="en-US" altLang="ko-KR" dirty="0"/>
              <a:t>  </a:t>
            </a:r>
          </a:p>
          <a:p>
            <a:r>
              <a:rPr lang="en-US" altLang="ko-KR" dirty="0"/>
              <a:t>}</a:t>
            </a:r>
          </a:p>
          <a:p>
            <a:r>
              <a:rPr lang="ko-KR" altLang="en-US" dirty="0" err="1"/>
              <a:t>삭제후</a:t>
            </a:r>
            <a:r>
              <a:rPr lang="ko-KR" altLang="en-US" dirty="0"/>
              <a:t> </a:t>
            </a:r>
            <a:r>
              <a:rPr lang="en-US" altLang="ko-KR" dirty="0"/>
              <a:t>chatGPT</a:t>
            </a:r>
            <a:r>
              <a:rPr lang="ko-KR" altLang="en-US" dirty="0"/>
              <a:t>에서 생성해준 </a:t>
            </a:r>
            <a:r>
              <a:rPr lang="ko-KR" altLang="en-US" dirty="0" err="1"/>
              <a:t>앱스크립트를</a:t>
            </a: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복사</a:t>
            </a:r>
            <a:r>
              <a:rPr lang="en-US" altLang="ko-KR" dirty="0"/>
              <a:t>/</a:t>
            </a:r>
            <a:r>
              <a:rPr lang="ko-KR" altLang="en-US" dirty="0"/>
              <a:t>붙여넣기</a:t>
            </a:r>
            <a:r>
              <a:rPr lang="en-US" altLang="ko-KR" dirty="0"/>
              <a:t>] – [</a:t>
            </a:r>
            <a:r>
              <a:rPr lang="ko-KR" altLang="en-US" dirty="0"/>
              <a:t>프로젝트 저장</a:t>
            </a:r>
            <a:r>
              <a:rPr lang="en-US" altLang="ko-KR" dirty="0"/>
              <a:t>] – [</a:t>
            </a:r>
            <a:r>
              <a:rPr lang="ko-KR" altLang="en-US" dirty="0"/>
              <a:t>실행</a:t>
            </a:r>
            <a:r>
              <a:rPr lang="en-US" altLang="ko-KR" dirty="0"/>
              <a:t>]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C661E2-56CA-B675-AAE6-E5C53F487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3272830"/>
            <a:ext cx="3635830" cy="1839101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8021FDB8-7C6B-CA77-2714-26A99133FC9E}"/>
              </a:ext>
            </a:extLst>
          </p:cNvPr>
          <p:cNvSpPr/>
          <p:nvPr/>
        </p:nvSpPr>
        <p:spPr>
          <a:xfrm>
            <a:off x="853440" y="3304484"/>
            <a:ext cx="262539" cy="2490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3D9CF7-C7B7-5796-B5AF-1ADE196BB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272830"/>
            <a:ext cx="3635830" cy="1839101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CC4A562-C8E9-1774-1552-670F7E221D15}"/>
              </a:ext>
            </a:extLst>
          </p:cNvPr>
          <p:cNvSpPr/>
          <p:nvPr/>
        </p:nvSpPr>
        <p:spPr>
          <a:xfrm>
            <a:off x="5319014" y="3313610"/>
            <a:ext cx="332849" cy="24903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091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6675E9-EA30-4D8A-6E03-5BA754CFA806}"/>
              </a:ext>
            </a:extLst>
          </p:cNvPr>
          <p:cNvSpPr txBox="1"/>
          <p:nvPr/>
        </p:nvSpPr>
        <p:spPr>
          <a:xfrm>
            <a:off x="457199" y="1079745"/>
            <a:ext cx="8229600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권한설정</a:t>
            </a:r>
            <a:r>
              <a:rPr lang="en-US" altLang="ko-KR" dirty="0"/>
              <a:t>] – [</a:t>
            </a:r>
            <a:r>
              <a:rPr lang="ko-KR" altLang="en-US" dirty="0"/>
              <a:t>본인 계정 선택</a:t>
            </a:r>
            <a:r>
              <a:rPr lang="en-US" altLang="ko-KR" dirty="0"/>
              <a:t>] – [Google</a:t>
            </a:r>
            <a:r>
              <a:rPr lang="ko-KR" altLang="en-US" dirty="0"/>
              <a:t>에서 확인하지 않은 앱</a:t>
            </a:r>
            <a:r>
              <a:rPr lang="en-US" altLang="ko-KR" dirty="0"/>
              <a:t>] – [</a:t>
            </a:r>
            <a:r>
              <a:rPr lang="ko-KR" altLang="en-US" dirty="0"/>
              <a:t>고급</a:t>
            </a:r>
            <a:r>
              <a:rPr lang="en-US" altLang="ko-KR" dirty="0"/>
              <a:t>] </a:t>
            </a:r>
            <a:r>
              <a:rPr lang="ko-KR" altLang="en-US" dirty="0"/>
              <a:t>클릭 </a:t>
            </a:r>
            <a:r>
              <a:rPr lang="en-US" altLang="ko-KR" dirty="0"/>
              <a:t>– [</a:t>
            </a:r>
            <a:r>
              <a:rPr lang="ko-KR" altLang="en-US" dirty="0"/>
              <a:t>제목 없는 프로젝트</a:t>
            </a:r>
            <a:r>
              <a:rPr lang="en-US" altLang="ko-KR" dirty="0"/>
              <a:t>(</a:t>
            </a:r>
            <a:r>
              <a:rPr lang="ko-KR" altLang="en-US" dirty="0"/>
              <a:t>으</a:t>
            </a:r>
            <a:r>
              <a:rPr lang="en-US" altLang="ko-KR" dirty="0"/>
              <a:t>)</a:t>
            </a:r>
            <a:r>
              <a:rPr lang="ko-KR" altLang="en-US" dirty="0"/>
              <a:t>로 이동</a:t>
            </a:r>
            <a:r>
              <a:rPr lang="en-US" altLang="ko-KR" dirty="0"/>
              <a:t>(</a:t>
            </a:r>
            <a:r>
              <a:rPr lang="ko-KR" altLang="en-US" dirty="0"/>
              <a:t>안전하지 않음</a:t>
            </a:r>
            <a:r>
              <a:rPr lang="en-US" altLang="ko-KR" dirty="0"/>
              <a:t>)]</a:t>
            </a:r>
            <a:r>
              <a:rPr lang="ko-KR" altLang="en-US" dirty="0"/>
              <a:t>클릭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6D4677-1D69-D035-FA93-FAF45637357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912" y="2116615"/>
            <a:ext cx="6182588" cy="4048690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8F70509-7255-475D-CC1D-F8233E3DED0A}"/>
              </a:ext>
            </a:extLst>
          </p:cNvPr>
          <p:cNvSpPr/>
          <p:nvPr/>
        </p:nvSpPr>
        <p:spPr>
          <a:xfrm>
            <a:off x="1576500" y="5869578"/>
            <a:ext cx="2438151" cy="29572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1301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EE52489-49F6-A645-3F2C-62C9D46E276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3937" y="1920551"/>
            <a:ext cx="3256126" cy="4741505"/>
          </a:xfrm>
          <a:prstGeom prst="rect">
            <a:avLst/>
          </a:prstGeom>
        </p:spPr>
      </p:pic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6675E9-EA30-4D8A-6E03-5BA754CFA806}"/>
              </a:ext>
            </a:extLst>
          </p:cNvPr>
          <p:cNvSpPr txBox="1"/>
          <p:nvPr/>
        </p:nvSpPr>
        <p:spPr>
          <a:xfrm>
            <a:off x="457199" y="107974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모두선택</a:t>
            </a:r>
            <a:r>
              <a:rPr lang="en-US" altLang="ko-KR" dirty="0"/>
              <a:t>]</a:t>
            </a:r>
            <a:r>
              <a:rPr lang="ko-KR" altLang="en-US" dirty="0"/>
              <a:t>클릭</a:t>
            </a:r>
            <a:r>
              <a:rPr lang="en-US" altLang="ko-KR" dirty="0"/>
              <a:t> – [</a:t>
            </a:r>
            <a:r>
              <a:rPr lang="ko-KR" altLang="en-US" dirty="0"/>
              <a:t>계속</a:t>
            </a:r>
            <a:r>
              <a:rPr lang="en-US" altLang="ko-KR" dirty="0"/>
              <a:t>]</a:t>
            </a:r>
            <a:r>
              <a:rPr lang="ko-KR" altLang="en-US" dirty="0"/>
              <a:t>클릭</a:t>
            </a:r>
            <a:endParaRPr lang="en-US" altLang="ko-KR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8F70509-7255-475D-CC1D-F8233E3DED0A}"/>
              </a:ext>
            </a:extLst>
          </p:cNvPr>
          <p:cNvSpPr/>
          <p:nvPr/>
        </p:nvSpPr>
        <p:spPr>
          <a:xfrm>
            <a:off x="4571999" y="6313714"/>
            <a:ext cx="1602378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32A910B-FF5F-A6A0-1A10-16116A983FD7}"/>
              </a:ext>
            </a:extLst>
          </p:cNvPr>
          <p:cNvSpPr/>
          <p:nvPr/>
        </p:nvSpPr>
        <p:spPr>
          <a:xfrm>
            <a:off x="2943937" y="2403566"/>
            <a:ext cx="792040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694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408113-ED0A-CD16-F5B1-8BAE1A861E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67" y="1796576"/>
            <a:ext cx="6144482" cy="1114581"/>
          </a:xfrm>
          <a:prstGeom prst="rect">
            <a:avLst/>
          </a:prstGeom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91EB1CF-9FA4-EDD8-0992-972255ABBDDA}"/>
              </a:ext>
            </a:extLst>
          </p:cNvPr>
          <p:cNvSpPr/>
          <p:nvPr/>
        </p:nvSpPr>
        <p:spPr>
          <a:xfrm>
            <a:off x="6418657" y="2080387"/>
            <a:ext cx="929492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83B25D-7E2A-6837-4EA1-478B3E1CF16C}"/>
              </a:ext>
            </a:extLst>
          </p:cNvPr>
          <p:cNvSpPr txBox="1"/>
          <p:nvPr/>
        </p:nvSpPr>
        <p:spPr>
          <a:xfrm>
            <a:off x="457199" y="107974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메뉴바에 </a:t>
            </a:r>
            <a:r>
              <a:rPr lang="en-US" altLang="ko-KR" dirty="0"/>
              <a:t>[ </a:t>
            </a:r>
            <a:r>
              <a:rPr lang="ko-KR" altLang="en-US" dirty="0"/>
              <a:t>설문 자동화</a:t>
            </a:r>
            <a:r>
              <a:rPr lang="en-US" altLang="ko-KR" dirty="0"/>
              <a:t>] </a:t>
            </a:r>
            <a:r>
              <a:rPr lang="ko-KR" altLang="en-US" dirty="0"/>
              <a:t>생성됨</a:t>
            </a:r>
            <a:endParaRPr lang="en-US" altLang="ko-K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5B1B9A-BC97-E6A6-313D-FC80ADDF0FAE}"/>
              </a:ext>
            </a:extLst>
          </p:cNvPr>
          <p:cNvSpPr txBox="1"/>
          <p:nvPr/>
        </p:nvSpPr>
        <p:spPr>
          <a:xfrm>
            <a:off x="352696" y="3073990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설문 자동화</a:t>
            </a:r>
            <a:r>
              <a:rPr lang="en-US" altLang="ko-KR" dirty="0"/>
              <a:t>] – [0)</a:t>
            </a:r>
            <a:r>
              <a:rPr lang="ko-KR" altLang="en-US" dirty="0"/>
              <a:t>제목</a:t>
            </a:r>
            <a:r>
              <a:rPr lang="en-US" altLang="ko-KR" dirty="0"/>
              <a:t>/</a:t>
            </a:r>
            <a:r>
              <a:rPr lang="ko-KR" altLang="en-US" dirty="0"/>
              <a:t>요약 입력</a:t>
            </a:r>
            <a:r>
              <a:rPr lang="en-US" altLang="ko-KR" dirty="0"/>
              <a:t>]</a:t>
            </a:r>
            <a:r>
              <a:rPr lang="ko-KR" altLang="en-US" dirty="0"/>
              <a:t>클릭 </a:t>
            </a:r>
            <a:r>
              <a:rPr lang="en-US" altLang="ko-KR" dirty="0"/>
              <a:t>– </a:t>
            </a:r>
            <a:r>
              <a:rPr lang="ko-KR" altLang="en-US" dirty="0"/>
              <a:t>제목과 요약 내용 복사</a:t>
            </a:r>
            <a:r>
              <a:rPr lang="en-US" altLang="ko-KR" dirty="0"/>
              <a:t>/</a:t>
            </a:r>
            <a:r>
              <a:rPr lang="ko-KR" altLang="en-US" dirty="0"/>
              <a:t>붙여넣기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DD1AAB8-6A20-6E79-E215-5822814A9A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2089" y="3962935"/>
            <a:ext cx="2113674" cy="163226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849D3B2-E6F0-58B8-F52C-47035A89F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0695" y="3962935"/>
            <a:ext cx="3241216" cy="16322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2DD2BED-FBFB-3284-AF3F-A1B34C0925AF}"/>
              </a:ext>
            </a:extLst>
          </p:cNvPr>
          <p:cNvSpPr txBox="1"/>
          <p:nvPr/>
        </p:nvSpPr>
        <p:spPr>
          <a:xfrm>
            <a:off x="352696" y="5930149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설문 자동화</a:t>
            </a:r>
            <a:r>
              <a:rPr lang="en-US" altLang="ko-KR" dirty="0"/>
              <a:t>] – [1)</a:t>
            </a:r>
            <a:r>
              <a:rPr lang="ko-KR" altLang="en-US" dirty="0"/>
              <a:t>폼 생성</a:t>
            </a:r>
            <a:r>
              <a:rPr lang="en-US" altLang="ko-KR" dirty="0"/>
              <a:t>/</a:t>
            </a:r>
            <a:r>
              <a:rPr lang="ko-KR" altLang="en-US" dirty="0"/>
              <a:t>갱신</a:t>
            </a:r>
            <a:r>
              <a:rPr lang="en-US" altLang="ko-KR" dirty="0"/>
              <a:t>]</a:t>
            </a:r>
            <a:r>
              <a:rPr lang="ko-KR" altLang="en-US" dirty="0"/>
              <a:t>클릭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15524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83B25D-7E2A-6837-4EA1-478B3E1CF16C}"/>
              </a:ext>
            </a:extLst>
          </p:cNvPr>
          <p:cNvSpPr txBox="1"/>
          <p:nvPr/>
        </p:nvSpPr>
        <p:spPr>
          <a:xfrm>
            <a:off x="457199" y="1079745"/>
            <a:ext cx="8229600" cy="6463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구글 </a:t>
            </a:r>
            <a:r>
              <a:rPr lang="en-US" altLang="ko-KR" dirty="0"/>
              <a:t>Forms </a:t>
            </a:r>
            <a:r>
              <a:rPr lang="ko-KR" altLang="en-US" dirty="0"/>
              <a:t>실행 </a:t>
            </a:r>
            <a:r>
              <a:rPr lang="en-US" altLang="ko-KR" dirty="0"/>
              <a:t>– </a:t>
            </a:r>
            <a:r>
              <a:rPr lang="ko-KR" altLang="en-US" dirty="0"/>
              <a:t>해당 설문 폼 열기 </a:t>
            </a:r>
            <a:r>
              <a:rPr lang="en-US" altLang="ko-KR" dirty="0"/>
              <a:t>– </a:t>
            </a:r>
            <a:r>
              <a:rPr lang="ko-KR" altLang="en-US" dirty="0"/>
              <a:t>우측 상단에 </a:t>
            </a:r>
            <a:r>
              <a:rPr lang="en-US" altLang="ko-KR" dirty="0"/>
              <a:t>[</a:t>
            </a:r>
            <a:r>
              <a:rPr lang="ko-KR" altLang="en-US" dirty="0"/>
              <a:t>배포</a:t>
            </a:r>
            <a:r>
              <a:rPr lang="en-US" altLang="ko-KR" dirty="0"/>
              <a:t>]</a:t>
            </a:r>
            <a:r>
              <a:rPr lang="ko-KR" altLang="en-US" dirty="0"/>
              <a:t> 클릭 </a:t>
            </a:r>
            <a:r>
              <a:rPr lang="en-US" altLang="ko-KR" dirty="0"/>
              <a:t>– </a:t>
            </a:r>
            <a:r>
              <a:rPr lang="ko-KR" altLang="en-US" dirty="0"/>
              <a:t>단축 </a:t>
            </a:r>
            <a:r>
              <a:rPr lang="en-US" altLang="ko-KR" dirty="0"/>
              <a:t>URL </a:t>
            </a:r>
            <a:r>
              <a:rPr lang="ko-KR" altLang="en-US" dirty="0"/>
              <a:t>배포</a:t>
            </a:r>
            <a:r>
              <a:rPr lang="en-US" altLang="ko-KR" dirty="0"/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A47F1F0-9EDF-BECF-DAAA-2A0E0E92D1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201" y="1889982"/>
            <a:ext cx="5706271" cy="4610743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C059B50-D6BA-4AC7-55A7-A14276C05831}"/>
              </a:ext>
            </a:extLst>
          </p:cNvPr>
          <p:cNvSpPr/>
          <p:nvPr/>
        </p:nvSpPr>
        <p:spPr>
          <a:xfrm>
            <a:off x="2116622" y="4692959"/>
            <a:ext cx="1662897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4A3636B-97DB-8E59-3CA0-4EF6FC39A369}"/>
              </a:ext>
            </a:extLst>
          </p:cNvPr>
          <p:cNvSpPr/>
          <p:nvPr/>
        </p:nvSpPr>
        <p:spPr>
          <a:xfrm>
            <a:off x="2238103" y="5991134"/>
            <a:ext cx="940526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215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CBA2ECE-20B7-9F45-50DC-0E6922B32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31" y="1950320"/>
            <a:ext cx="7302138" cy="4694830"/>
          </a:xfrm>
          <a:prstGeom prst="rect">
            <a:avLst/>
          </a:prstGeom>
        </p:spPr>
      </p:pic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ko-KR" altLang="en-US" dirty="0" err="1"/>
              <a:t>앱스크립트를</a:t>
            </a:r>
            <a:r>
              <a:rPr lang="ko-KR" altLang="en-US" dirty="0"/>
              <a:t> 이용한 구글 폼 자동생성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C059B50-D6BA-4AC7-55A7-A14276C05831}"/>
              </a:ext>
            </a:extLst>
          </p:cNvPr>
          <p:cNvSpPr/>
          <p:nvPr/>
        </p:nvSpPr>
        <p:spPr>
          <a:xfrm>
            <a:off x="6131274" y="2568067"/>
            <a:ext cx="1375516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4A3636B-97DB-8E59-3CA0-4EF6FC39A369}"/>
              </a:ext>
            </a:extLst>
          </p:cNvPr>
          <p:cNvSpPr/>
          <p:nvPr/>
        </p:nvSpPr>
        <p:spPr>
          <a:xfrm>
            <a:off x="4258492" y="1950320"/>
            <a:ext cx="766354" cy="34834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96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7A7D88-A9D0-AE4B-DDB2-2B456F325B2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08366" y="1745433"/>
            <a:ext cx="4138742" cy="4138742"/>
          </a:xfrm>
          <a:prstGeom prst="rect">
            <a:avLst/>
          </a:prstGeom>
        </p:spPr>
      </p:pic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en-US" altLang="ko-KR" dirty="0"/>
              <a:t>Looker</a:t>
            </a:r>
            <a:r>
              <a:rPr lang="ko-KR" altLang="en-US" dirty="0"/>
              <a:t> </a:t>
            </a:r>
            <a:r>
              <a:rPr lang="en-US" altLang="ko-KR" dirty="0"/>
              <a:t>Studio</a:t>
            </a:r>
            <a:r>
              <a:rPr lang="ko-KR" altLang="en-US" dirty="0"/>
              <a:t>를 이용한 보고서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83B25D-7E2A-6837-4EA1-478B3E1CF16C}"/>
              </a:ext>
            </a:extLst>
          </p:cNvPr>
          <p:cNvSpPr txBox="1"/>
          <p:nvPr/>
        </p:nvSpPr>
        <p:spPr>
          <a:xfrm>
            <a:off x="457199" y="1079745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</a:t>
            </a:r>
            <a:r>
              <a:rPr lang="ko-KR" altLang="en-US" dirty="0"/>
              <a:t>확장 프로그램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en-US" altLang="ko-KR" dirty="0"/>
              <a:t>– [Looker Studio] </a:t>
            </a:r>
            <a:r>
              <a:rPr lang="ko-KR" altLang="en-US" dirty="0"/>
              <a:t>클릭 </a:t>
            </a:r>
            <a:r>
              <a:rPr lang="en-US" altLang="ko-KR" dirty="0"/>
              <a:t>– [</a:t>
            </a:r>
            <a:r>
              <a:rPr lang="ko-KR" altLang="en-US" dirty="0"/>
              <a:t>응답 시트 선택</a:t>
            </a:r>
            <a:r>
              <a:rPr lang="en-US" altLang="ko-KR" dirty="0"/>
              <a:t>] – [</a:t>
            </a:r>
            <a:r>
              <a:rPr lang="ko-KR" altLang="en-US" dirty="0"/>
              <a:t>만들기</a:t>
            </a:r>
            <a:r>
              <a:rPr lang="en-US" altLang="ko-KR" dirty="0"/>
              <a:t>] </a:t>
            </a:r>
            <a:r>
              <a:rPr lang="ko-KR" altLang="en-US" dirty="0"/>
              <a:t>클릭</a:t>
            </a:r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4A3636B-97DB-8E59-3CA0-4EF6FC39A369}"/>
              </a:ext>
            </a:extLst>
          </p:cNvPr>
          <p:cNvSpPr/>
          <p:nvPr/>
        </p:nvSpPr>
        <p:spPr>
          <a:xfrm>
            <a:off x="5422170" y="5318383"/>
            <a:ext cx="1309555" cy="55119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CDB665-CB55-142D-778A-862040B9BBF3}"/>
              </a:ext>
            </a:extLst>
          </p:cNvPr>
          <p:cNvSpPr/>
          <p:nvPr/>
        </p:nvSpPr>
        <p:spPr>
          <a:xfrm>
            <a:off x="2778034" y="3054154"/>
            <a:ext cx="3953691" cy="55119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387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</a:t>
            </a:r>
            <a:r>
              <a:rPr lang="en-US" altLang="ko-KR" dirty="0"/>
              <a:t>Looker</a:t>
            </a:r>
            <a:r>
              <a:rPr lang="ko-KR" altLang="en-US" dirty="0"/>
              <a:t> </a:t>
            </a:r>
            <a:r>
              <a:rPr lang="en-US" altLang="ko-KR" dirty="0"/>
              <a:t>Studio</a:t>
            </a:r>
            <a:r>
              <a:rPr lang="ko-KR" altLang="en-US" dirty="0"/>
              <a:t>를 이용한 보고서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83B25D-7E2A-6837-4EA1-478B3E1CF16C}"/>
              </a:ext>
            </a:extLst>
          </p:cNvPr>
          <p:cNvSpPr txBox="1"/>
          <p:nvPr/>
        </p:nvSpPr>
        <p:spPr>
          <a:xfrm>
            <a:off x="457200" y="1357636"/>
            <a:ext cx="8229600" cy="3693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[Looker Studio] </a:t>
            </a:r>
            <a:r>
              <a:rPr lang="ko-KR" altLang="en-US" dirty="0"/>
              <a:t>보고서 편집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C73DE48-537F-2418-7C95-A98DF538D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736" y="2445914"/>
            <a:ext cx="8432528" cy="3040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8051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9">
            <a:extLst>
              <a:ext uri="{FF2B5EF4-FFF2-40B4-BE49-F238E27FC236}">
                <a16:creationId xmlns:a16="http://schemas.microsoft.com/office/drawing/2014/main" id="{BD523FE0-449D-4D1B-83CB-11C289E52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908720"/>
          </a:xfrm>
        </p:spPr>
        <p:txBody>
          <a:bodyPr>
            <a:normAutofit/>
          </a:bodyPr>
          <a:lstStyle/>
          <a:p>
            <a:r>
              <a:rPr lang="ko-KR" altLang="en-US" dirty="0"/>
              <a:t>▣ 관련링크</a:t>
            </a:r>
          </a:p>
        </p:txBody>
      </p:sp>
      <p:pic>
        <p:nvPicPr>
          <p:cNvPr id="8" name="Picture 2" descr="D:\YJ\주문제작\LG\LG세탁기_북미\이미지\칸나누기.png">
            <a:extLst>
              <a:ext uri="{FF2B5EF4-FFF2-40B4-BE49-F238E27FC236}">
                <a16:creationId xmlns:a16="http://schemas.microsoft.com/office/drawing/2014/main" id="{B9D66F81-C0DC-4D45-995A-4EEAF0274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141" b="381"/>
          <a:stretch/>
        </p:blipFill>
        <p:spPr bwMode="auto">
          <a:xfrm rot="5400000" flipH="1">
            <a:off x="4391980" y="-3699284"/>
            <a:ext cx="360042" cy="91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25EDCCD-AC84-9A96-30DA-19CAF24DE63D}"/>
              </a:ext>
            </a:extLst>
          </p:cNvPr>
          <p:cNvSpPr txBox="1"/>
          <p:nvPr/>
        </p:nvSpPr>
        <p:spPr>
          <a:xfrm>
            <a:off x="259882" y="1446247"/>
            <a:ext cx="8426918" cy="3243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en-US" altLang="ko-KR" sz="1200" dirty="0"/>
              <a:t>https://docs.google.com/spreadsheets/d/1J3dQl-zgsftOJ-SIB-LXIMAfk3LxJo6tljex0oHfdiI/edit?usp=sharing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r>
              <a:rPr lang="ko-KR" altLang="en-US" sz="1200" dirty="0"/>
              <a:t>설문문항 디자이너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https://chatgpt.com/g/g-689c500ba41c81919faf67352c0e2960-gugeulsiteu-seolmunmunhang-dijaineo</a:t>
            </a:r>
          </a:p>
          <a:p>
            <a:pPr>
              <a:lnSpc>
                <a:spcPct val="250000"/>
              </a:lnSpc>
            </a:pPr>
            <a:endParaRPr lang="en-US" altLang="ko-KR" sz="1200" dirty="0"/>
          </a:p>
          <a:p>
            <a:pPr>
              <a:lnSpc>
                <a:spcPct val="250000"/>
              </a:lnSpc>
            </a:pPr>
            <a:r>
              <a:rPr lang="ko-KR" altLang="en-US" sz="1200" dirty="0"/>
              <a:t>설문문항결과분석</a:t>
            </a:r>
          </a:p>
          <a:p>
            <a:pPr>
              <a:lnSpc>
                <a:spcPct val="250000"/>
              </a:lnSpc>
            </a:pPr>
            <a:r>
              <a:rPr lang="en-US" altLang="ko-KR" sz="1200" dirty="0"/>
              <a:t>https://chatgpt.com/g/g-68ae9299c9e0819187b3a58febfc7ed5-seolmunjosagyeolgwabunseog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75144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32962</TotalTime>
  <Words>2359</Words>
  <Application>Microsoft Office PowerPoint</Application>
  <PresentationFormat>화면 슬라이드 쇼(4:3)</PresentationFormat>
  <Paragraphs>190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Arial Black</vt:lpstr>
      <vt:lpstr>Office 테마</vt:lpstr>
      <vt:lpstr>PowerPoint 프레젠테이션</vt:lpstr>
      <vt:lpstr>▣ 프롬프트(ChatGPT 맞춤 설정)</vt:lpstr>
      <vt:lpstr>▣ 프롬프트</vt:lpstr>
      <vt:lpstr>▣ 프롬프트</vt:lpstr>
      <vt:lpstr>▣ 프롬프트(설문문항 디자이너)</vt:lpstr>
      <vt:lpstr>▣ 프롬프트(설문조사결과분석1)</vt:lpstr>
      <vt:lpstr>▣ 프롬프트 (설문조사결과분석2)</vt:lpstr>
      <vt:lpstr>▣ 프롬프트 (설문조사결과분석3)</vt:lpstr>
      <vt:lpstr>▣ GPT를 이용한 설문내용 생성</vt:lpstr>
      <vt:lpstr>▣ GPT를 이용한 설문내용 생성</vt:lpstr>
      <vt:lpstr>▣ GPT를 이용한 설문내용 생성</vt:lpstr>
      <vt:lpstr>▣ 앱스크립트를 이용한 구글 폼 자동생성</vt:lpstr>
      <vt:lpstr>▣ 앱스크립트를 이용한 구글 폼 자동생성</vt:lpstr>
      <vt:lpstr>▣ 앱스크립트를 이용한 구글 폼 자동생성</vt:lpstr>
      <vt:lpstr>▣ 앱스크립트를 이용한 구글 폼 자동생성</vt:lpstr>
      <vt:lpstr>▣ 앱스크립트를 이용한 구글 폼 자동생성</vt:lpstr>
      <vt:lpstr>▣ 앱스크립트를 이용한 구글 폼 자동생성</vt:lpstr>
      <vt:lpstr>▣ 앱스크립트를 이용한 구글 폼 자동생성</vt:lpstr>
      <vt:lpstr>▣ Looker Studio를 이용한 보고서 생성</vt:lpstr>
      <vt:lpstr>▣ Looker Studio를 이용한 보고서 생성</vt:lpstr>
      <vt:lpstr>▣ 관련링크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JU</dc:creator>
  <cp:lastModifiedBy>허경욱</cp:lastModifiedBy>
  <cp:revision>377</cp:revision>
  <cp:lastPrinted>2021-11-04T11:10:52Z</cp:lastPrinted>
  <dcterms:created xsi:type="dcterms:W3CDTF">2013-08-28T07:35:45Z</dcterms:created>
  <dcterms:modified xsi:type="dcterms:W3CDTF">2025-09-10T11:25:52Z</dcterms:modified>
</cp:coreProperties>
</file>