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575" r:id="rId3"/>
    <p:sldId id="602" r:id="rId4"/>
    <p:sldId id="603" r:id="rId5"/>
    <p:sldId id="604" r:id="rId6"/>
    <p:sldId id="605" r:id="rId7"/>
    <p:sldId id="606" r:id="rId8"/>
    <p:sldId id="607" r:id="rId9"/>
    <p:sldId id="608" r:id="rId10"/>
  </p:sldIdLst>
  <p:sldSz cx="9144000" cy="6858000" type="screen4x3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4935"/>
    <a:srgbClr val="FFDA1F"/>
    <a:srgbClr val="F8F9FB"/>
    <a:srgbClr val="9CA34E"/>
    <a:srgbClr val="FF6C79"/>
    <a:srgbClr val="FFD13F"/>
    <a:srgbClr val="F97B13"/>
    <a:srgbClr val="F1F1EF"/>
    <a:srgbClr val="F4374B"/>
    <a:srgbClr val="97DA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762" y="-78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16D24-9262-4317-9603-998C7CC58B8C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8675F-63D8-405E-A338-66097ECAC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416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5BFDE-C47D-4F0C-9005-D9C28FF82CB5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243EA-EAD3-4938-9A61-A38717A167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8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3" r="81148" b="48194"/>
          <a:stretch/>
        </p:blipFill>
        <p:spPr>
          <a:xfrm>
            <a:off x="676274" y="283"/>
            <a:ext cx="1047751" cy="35525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0" r="54375" b="50556"/>
          <a:stretch/>
        </p:blipFill>
        <p:spPr>
          <a:xfrm>
            <a:off x="2609850" y="283"/>
            <a:ext cx="1562100" cy="33906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6" t="58334" r="43124" b="14858"/>
          <a:stretch/>
        </p:blipFill>
        <p:spPr>
          <a:xfrm>
            <a:off x="571500" y="4000500"/>
            <a:ext cx="4629150" cy="18383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" t="48889" r="41665"/>
          <a:stretch/>
        </p:blipFill>
        <p:spPr>
          <a:xfrm>
            <a:off x="762000" y="3352799"/>
            <a:ext cx="4572000" cy="35049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2" r="67918" b="30276"/>
          <a:stretch/>
        </p:blipFill>
        <p:spPr>
          <a:xfrm>
            <a:off x="1543050" y="283"/>
            <a:ext cx="1390650" cy="478126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t="50278" r="83857" b="28887"/>
          <a:stretch/>
        </p:blipFill>
        <p:spPr>
          <a:xfrm>
            <a:off x="619124" y="3448050"/>
            <a:ext cx="857251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5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FFD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3600451" y="0"/>
            <a:ext cx="5543550" cy="6858000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3667125" y="44624"/>
            <a:ext cx="5431854" cy="6768752"/>
          </a:xfrm>
          <a:prstGeom prst="rect">
            <a:avLst/>
          </a:prstGeom>
          <a:gradFill>
            <a:gsLst>
              <a:gs pos="0">
                <a:schemeClr val="bg1">
                  <a:alpha val="32000"/>
                </a:schemeClr>
              </a:gs>
              <a:gs pos="54000">
                <a:schemeClr val="bg1">
                  <a:lumMod val="8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" t="48889" r="41665"/>
          <a:stretch/>
        </p:blipFill>
        <p:spPr>
          <a:xfrm>
            <a:off x="127000" y="3891771"/>
            <a:ext cx="3868936" cy="29659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284984"/>
            <a:ext cx="1064466" cy="18002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59769">
            <a:off x="944708" y="2314647"/>
            <a:ext cx="883847" cy="110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5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rgbClr val="FFD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LOGO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t="45187"/>
          <a:stretch/>
        </p:blipFill>
        <p:spPr>
          <a:xfrm>
            <a:off x="8203150" y="295275"/>
            <a:ext cx="656150" cy="223870"/>
          </a:xfrm>
          <a:prstGeom prst="rect">
            <a:avLst/>
          </a:prstGeom>
          <a:effectLst/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450617"/>
            <a:ext cx="4364375" cy="340738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304" y="2852936"/>
            <a:ext cx="1243481" cy="21029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853" b="31603"/>
          <a:stretch/>
        </p:blipFill>
        <p:spPr>
          <a:xfrm>
            <a:off x="3707904" y="3501008"/>
            <a:ext cx="1025996" cy="191363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4" t="72482" r="62097" b="-4256"/>
          <a:stretch/>
        </p:blipFill>
        <p:spPr>
          <a:xfrm>
            <a:off x="2987824" y="5661248"/>
            <a:ext cx="888999" cy="888999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87" t="18012" r="-4103" b="25249"/>
          <a:stretch/>
        </p:blipFill>
        <p:spPr>
          <a:xfrm>
            <a:off x="7164288" y="2636912"/>
            <a:ext cx="10795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9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822960"/>
            <a:ext cx="9143245" cy="6035040"/>
          </a:xfrm>
          <a:prstGeom prst="rect">
            <a:avLst/>
          </a:prstGeom>
          <a:solidFill>
            <a:srgbClr val="FFD13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1528"/>
            <a:ext cx="9143245" cy="770784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0" y="0"/>
            <a:ext cx="9144000" cy="825500"/>
          </a:xfrm>
          <a:prstGeom prst="rect">
            <a:avLst/>
          </a:prstGeom>
          <a:pattFill prst="openDmnd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0221D-71D7-43A0-B675-130013B0A81E}" type="datetimeFigureOut">
              <a:rPr lang="ko-KR" altLang="en-US" smtClean="0"/>
              <a:t>2025-08-27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5232E-5A83-4D69-8659-C92D199E570E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57200" y="45720"/>
            <a:ext cx="8229600" cy="789712"/>
          </a:xfrm>
          <a:prstGeom prst="rect">
            <a:avLst/>
          </a:prstGeom>
        </p:spPr>
        <p:txBody>
          <a:bodyPr>
            <a:scene3d>
              <a:camera prst="orthographicFront"/>
              <a:lightRig rig="threePt" dir="t"/>
            </a:scene3d>
            <a:sp3d>
              <a:bevelT w="2540" h="2540"/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600" b="1" kern="1200" spc="-150" dirty="0">
                <a:solidFill>
                  <a:sysClr val="windowText" lastClr="000000"/>
                </a:solidFill>
                <a:effectLst/>
                <a:latin typeface="+mn-ea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" t="58335" r="50229" b="17692"/>
          <a:stretch/>
        </p:blipFill>
        <p:spPr>
          <a:xfrm>
            <a:off x="7393012" y="99616"/>
            <a:ext cx="1750988" cy="72334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9" t="72602" r="82924" b="16599"/>
          <a:stretch/>
        </p:blipFill>
        <p:spPr>
          <a:xfrm>
            <a:off x="-1" y="0"/>
            <a:ext cx="590667" cy="6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8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A7344-57C8-4E43-A72B-07F3DCDF7D4A}" type="datetimeFigureOut">
              <a:rPr lang="ko-KR" altLang="en-US" smtClean="0"/>
              <a:pPr/>
              <a:t>2025-08-27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250C4-EF9C-4D2C-B8D4-45DCC658C1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5" r:id="rId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313559" y="1581149"/>
            <a:ext cx="288032" cy="1455665"/>
          </a:xfrm>
          <a:prstGeom prst="rect">
            <a:avLst/>
          </a:prstGeom>
          <a:solidFill>
            <a:srgbClr val="FFDA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3601591" y="1581149"/>
            <a:ext cx="5542410" cy="1455665"/>
          </a:xfrm>
          <a:prstGeom prst="rect">
            <a:avLst/>
          </a:prstGeom>
          <a:solidFill>
            <a:srgbClr val="FFD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543300" y="1689895"/>
            <a:ext cx="5610225" cy="120032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 fontAlgn="base"/>
            <a:r>
              <a:rPr lang="en-US" altLang="ko-KR" sz="3600" b="1" dirty="0"/>
              <a:t>AI</a:t>
            </a:r>
            <a:r>
              <a:rPr lang="ko-KR" altLang="en-US" sz="3600" b="1" dirty="0"/>
              <a:t>를 활용한 만족도 조사 분석 및 결과보고서 자동화</a:t>
            </a:r>
            <a:endParaRPr lang="ko-KR" altLang="en-US" sz="3600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DF1102C0-2B3C-4466-98FB-B212C0B180ED}"/>
              </a:ext>
            </a:extLst>
          </p:cNvPr>
          <p:cNvSpPr txBox="1">
            <a:spLocks/>
          </p:cNvSpPr>
          <p:nvPr/>
        </p:nvSpPr>
        <p:spPr>
          <a:xfrm>
            <a:off x="5052524" y="3875712"/>
            <a:ext cx="4192142" cy="13612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9057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9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49263" indent="-223838" algn="l" defTabSz="99057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Webdings" panose="05030102010509060703" pitchFamily="18" charset="2"/>
              <a:buChar char="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177800" algn="l" defTabSz="99057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4863" indent="-131763" algn="l" defTabSz="99057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38" indent="-84138" algn="l" defTabSz="99057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</a:rPr>
              <a:t>경남대학교 </a:t>
            </a:r>
            <a:r>
              <a:rPr lang="en-US" altLang="ko-KR" sz="1800" b="1" dirty="0">
                <a:solidFill>
                  <a:schemeClr val="tx1"/>
                </a:solidFill>
                <a:latin typeface="+mj-ea"/>
                <a:ea typeface="+mj-ea"/>
              </a:rPr>
              <a:t>MSC(Computer)</a:t>
            </a: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</a:rPr>
              <a:t>교육부 </a:t>
            </a:r>
            <a:endParaRPr lang="en-US" altLang="ko-KR" sz="1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</a:rPr>
              <a:t>허 경 욱</a:t>
            </a:r>
            <a:endParaRPr lang="en-US" altLang="ko-KR" sz="1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800" b="1" dirty="0">
                <a:solidFill>
                  <a:schemeClr val="tx1"/>
                </a:solidFill>
                <a:latin typeface="+mj-ea"/>
                <a:ea typeface="+mj-ea"/>
              </a:rPr>
              <a:t>kwheo@kyungnam.ac.kr</a:t>
            </a:r>
            <a:endParaRPr lang="ko-KR" altLang="en-US" sz="18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52738"/>
            <a:ext cx="8229600" cy="175432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설문주제를 입력하면 설문제목과 요약설명</a:t>
            </a:r>
            <a:r>
              <a:rPr lang="en-US" altLang="ko-KR" dirty="0"/>
              <a:t>, </a:t>
            </a:r>
            <a:r>
              <a:rPr lang="ko-KR" altLang="en-US" dirty="0"/>
              <a:t>설문문항을 자동으로 생성해주는 </a:t>
            </a:r>
            <a:r>
              <a:rPr lang="en-US" altLang="ko-KR" dirty="0"/>
              <a:t>GPTs</a:t>
            </a:r>
            <a:r>
              <a:rPr lang="ko-KR" altLang="en-US" dirty="0"/>
              <a:t>를 </a:t>
            </a:r>
            <a:r>
              <a:rPr lang="ko-KR" altLang="en-US" dirty="0" err="1"/>
              <a:t>만들거야</a:t>
            </a:r>
            <a:r>
              <a:rPr lang="en-US" altLang="ko-KR" dirty="0"/>
              <a:t>. </a:t>
            </a:r>
            <a:r>
              <a:rPr lang="ko-KR" altLang="en-US" dirty="0"/>
              <a:t>설문 문항 생성을 위해 한 </a:t>
            </a:r>
            <a:r>
              <a:rPr lang="ko-KR" altLang="en-US" dirty="0" err="1"/>
              <a:t>단계씩로</a:t>
            </a:r>
            <a:r>
              <a:rPr lang="ko-KR" altLang="en-US" dirty="0"/>
              <a:t> 진행해줘</a:t>
            </a:r>
            <a:r>
              <a:rPr lang="en-US" altLang="ko-KR" dirty="0"/>
              <a:t>. 1</a:t>
            </a:r>
            <a:r>
              <a:rPr lang="ko-KR" altLang="en-US" dirty="0"/>
              <a:t>단계에서는 설문대상을 파악하고 </a:t>
            </a:r>
            <a:r>
              <a:rPr lang="en-US" altLang="ko-KR" dirty="0"/>
              <a:t>2</a:t>
            </a:r>
            <a:r>
              <a:rPr lang="ko-KR" altLang="en-US" dirty="0"/>
              <a:t>단계에서는 설문 문항 수</a:t>
            </a:r>
            <a:r>
              <a:rPr lang="en-US" altLang="ko-KR" dirty="0"/>
              <a:t>, 3</a:t>
            </a:r>
            <a:r>
              <a:rPr lang="ko-KR" altLang="en-US" dirty="0"/>
              <a:t>단계는 자동</a:t>
            </a:r>
            <a:r>
              <a:rPr lang="en-US" altLang="ko-KR" dirty="0"/>
              <a:t>/</a:t>
            </a:r>
            <a:r>
              <a:rPr lang="ko-KR" altLang="en-US" dirty="0"/>
              <a:t>수동 여부를 묻고 최종 설문문항을 작성해줘</a:t>
            </a:r>
            <a:r>
              <a:rPr lang="en-US" altLang="ko-KR" dirty="0"/>
              <a:t>. </a:t>
            </a:r>
            <a:r>
              <a:rPr lang="ko-KR" altLang="en-US" dirty="0"/>
              <a:t>고려할 사항은 생성해준 설문문항을 구글 시트에 복사</a:t>
            </a:r>
            <a:r>
              <a:rPr lang="en-US" altLang="ko-KR" dirty="0"/>
              <a:t>/</a:t>
            </a:r>
            <a:r>
              <a:rPr lang="ko-KR" altLang="en-US" dirty="0"/>
              <a:t>붙여넣기 </a:t>
            </a:r>
            <a:r>
              <a:rPr lang="ko-KR" altLang="en-US" dirty="0" err="1"/>
              <a:t>할꺼야</a:t>
            </a:r>
            <a:r>
              <a:rPr lang="en-US" altLang="ko-KR" dirty="0"/>
              <a:t>. </a:t>
            </a:r>
            <a:r>
              <a:rPr lang="ko-KR" altLang="en-US" dirty="0"/>
              <a:t>각 데이터가 해당 셀에 </a:t>
            </a:r>
            <a:r>
              <a:rPr lang="ko-KR" altLang="en-US" dirty="0" err="1"/>
              <a:t>입력될수</a:t>
            </a:r>
            <a:r>
              <a:rPr lang="ko-KR" altLang="en-US" dirty="0"/>
              <a:t> 있도록 출력형태</a:t>
            </a:r>
            <a:r>
              <a:rPr lang="en-US" altLang="ko-KR" dirty="0"/>
              <a:t>(</a:t>
            </a:r>
            <a:r>
              <a:rPr lang="ko-KR" altLang="en-US" dirty="0"/>
              <a:t>표</a:t>
            </a:r>
            <a:r>
              <a:rPr lang="en-US" altLang="ko-KR" dirty="0"/>
              <a:t>)</a:t>
            </a:r>
            <a:r>
              <a:rPr lang="ko-KR" altLang="en-US" dirty="0"/>
              <a:t>를 만들어줘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D5FA8-587A-AA18-BB4C-0F470BB76BE8}"/>
              </a:ext>
            </a:extLst>
          </p:cNvPr>
          <p:cNvSpPr txBox="1"/>
          <p:nvPr/>
        </p:nvSpPr>
        <p:spPr>
          <a:xfrm>
            <a:off x="457199" y="3105834"/>
            <a:ext cx="8229599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열은 다음과 같이 구성해줘 질문유형</a:t>
            </a:r>
            <a:r>
              <a:rPr lang="en-US" altLang="ko-KR" dirty="0"/>
              <a:t>, </a:t>
            </a:r>
            <a:r>
              <a:rPr lang="ko-KR" altLang="en-US" dirty="0"/>
              <a:t>질문내용</a:t>
            </a:r>
            <a:r>
              <a:rPr lang="en-US" altLang="ko-KR" dirty="0"/>
              <a:t>, </a:t>
            </a:r>
            <a:r>
              <a:rPr lang="ko-KR" altLang="en-US" dirty="0"/>
              <a:t>선택지</a:t>
            </a:r>
            <a:r>
              <a:rPr lang="en-US" altLang="ko-KR" dirty="0"/>
              <a:t>(</a:t>
            </a:r>
            <a:r>
              <a:rPr lang="ko-KR" altLang="en-US" dirty="0" err="1"/>
              <a:t>쉼표로구분</a:t>
            </a:r>
            <a:r>
              <a:rPr lang="en-US" altLang="ko-KR" dirty="0"/>
              <a:t>), </a:t>
            </a:r>
            <a:r>
              <a:rPr lang="ko-KR" altLang="en-US" dirty="0"/>
              <a:t>필수여부</a:t>
            </a:r>
            <a:r>
              <a:rPr lang="en-US" altLang="ko-KR" dirty="0"/>
              <a:t>, </a:t>
            </a:r>
            <a:r>
              <a:rPr lang="ko-KR" altLang="en-US" dirty="0"/>
              <a:t>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6C99FE-D2D6-2EE1-B915-07D9FE2B1E0E}"/>
              </a:ext>
            </a:extLst>
          </p:cNvPr>
          <p:cNvSpPr txBox="1"/>
          <p:nvPr/>
        </p:nvSpPr>
        <p:spPr>
          <a:xfrm>
            <a:off x="457200" y="4050935"/>
            <a:ext cx="822960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열제목행도 추가해주고 척도는 숫자</a:t>
            </a:r>
            <a:r>
              <a:rPr lang="en-US" altLang="ko-KR" dirty="0"/>
              <a:t>-</a:t>
            </a:r>
            <a:r>
              <a:rPr lang="ko-KR" altLang="en-US" dirty="0"/>
              <a:t>라벨 형식으로 바꿔줘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BDA1FA-F4B6-A4D8-EE25-8001EC438A3F}"/>
              </a:ext>
            </a:extLst>
          </p:cNvPr>
          <p:cNvSpPr txBox="1"/>
          <p:nvPr/>
        </p:nvSpPr>
        <p:spPr>
          <a:xfrm>
            <a:off x="457199" y="4719037"/>
            <a:ext cx="8229599" cy="175432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최종적으로 다음과 같이 </a:t>
            </a:r>
            <a:r>
              <a:rPr lang="en-US" altLang="ko-KR" dirty="0"/>
              <a:t>GPTs</a:t>
            </a:r>
            <a:r>
              <a:rPr lang="ko-KR" altLang="en-US" dirty="0"/>
              <a:t>의 내용을 수정해줘</a:t>
            </a:r>
            <a:r>
              <a:rPr lang="en-US" altLang="ko-KR" dirty="0"/>
              <a:t>. </a:t>
            </a:r>
            <a:r>
              <a:rPr lang="ko-KR" altLang="en-US" dirty="0"/>
              <a:t>설문주제를 입력하면 먼저 설문 제목과 설문요약 내용을 구체적으로 작성해주고 단계별로 진행한다</a:t>
            </a:r>
            <a:r>
              <a:rPr lang="en-US" altLang="ko-KR" dirty="0"/>
              <a:t>. </a:t>
            </a:r>
            <a:r>
              <a:rPr lang="ko-KR" altLang="en-US" dirty="0"/>
              <a:t>반드시 이전단계가 </a:t>
            </a:r>
            <a:r>
              <a:rPr lang="ko-KR" altLang="en-US" dirty="0" err="1"/>
              <a:t>끝난뒤</a:t>
            </a:r>
            <a:r>
              <a:rPr lang="ko-KR" altLang="en-US" dirty="0"/>
              <a:t> 다음단계를 진행한다</a:t>
            </a:r>
            <a:r>
              <a:rPr lang="en-US" altLang="ko-KR" dirty="0"/>
              <a:t>. 1</a:t>
            </a:r>
            <a:r>
              <a:rPr lang="ko-KR" altLang="en-US" dirty="0"/>
              <a:t>단계에서는 설문대상을 파악 </a:t>
            </a:r>
            <a:r>
              <a:rPr lang="en-US" altLang="ko-KR" dirty="0"/>
              <a:t>2</a:t>
            </a:r>
            <a:r>
              <a:rPr lang="ko-KR" altLang="en-US" dirty="0"/>
              <a:t>단계에서는 설문 문항 수 파악 </a:t>
            </a:r>
            <a:r>
              <a:rPr lang="en-US" altLang="ko-KR" dirty="0"/>
              <a:t>3</a:t>
            </a:r>
            <a:r>
              <a:rPr lang="ko-KR" altLang="en-US" dirty="0"/>
              <a:t>단계는 자동</a:t>
            </a:r>
            <a:r>
              <a:rPr lang="en-US" altLang="ko-KR" dirty="0"/>
              <a:t>/</a:t>
            </a:r>
            <a:r>
              <a:rPr lang="ko-KR" altLang="en-US" dirty="0"/>
              <a:t>수동 여부 파악 </a:t>
            </a:r>
            <a:r>
              <a:rPr lang="en-US" altLang="ko-KR" dirty="0"/>
              <a:t>3</a:t>
            </a:r>
            <a:r>
              <a:rPr lang="ko-KR" altLang="en-US" dirty="0"/>
              <a:t>단계 완료 후 최종 설문문항을 작성해줘</a:t>
            </a:r>
            <a:r>
              <a:rPr lang="en-US" altLang="ko-KR" dirty="0"/>
              <a:t>. </a:t>
            </a:r>
            <a:r>
              <a:rPr lang="ko-KR" altLang="en-US" dirty="0"/>
              <a:t>고려할 사항은 생성해준 설문문항을 구글 시트에 복사</a:t>
            </a:r>
            <a:r>
              <a:rPr lang="en-US" altLang="ko-KR" dirty="0"/>
              <a:t>/</a:t>
            </a:r>
            <a:r>
              <a:rPr lang="ko-KR" altLang="en-US" dirty="0"/>
              <a:t>붙여넣기 </a:t>
            </a:r>
            <a:r>
              <a:rPr lang="ko-KR" altLang="en-US" dirty="0" err="1"/>
              <a:t>할꺼야</a:t>
            </a:r>
            <a:r>
              <a:rPr lang="en-US" altLang="ko-KR" dirty="0"/>
              <a:t>. </a:t>
            </a:r>
            <a:r>
              <a:rPr lang="ko-KR" altLang="en-US" dirty="0"/>
              <a:t>열구분을 </a:t>
            </a:r>
            <a:r>
              <a:rPr lang="en-US" altLang="ko-KR" dirty="0"/>
              <a:t>| </a:t>
            </a:r>
            <a:r>
              <a:rPr lang="ko-KR" altLang="en-US" dirty="0"/>
              <a:t>기호를 이용해서 해줘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88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52738"/>
            <a:ext cx="8229600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다음과 같이 </a:t>
            </a:r>
            <a:r>
              <a:rPr lang="en-US" altLang="ko-KR" dirty="0"/>
              <a:t>GPTs</a:t>
            </a:r>
            <a:r>
              <a:rPr lang="ko-KR" altLang="en-US" dirty="0"/>
              <a:t>의 내용을 수정해줘</a:t>
            </a:r>
            <a:r>
              <a:rPr lang="en-US" altLang="ko-KR" dirty="0"/>
              <a:t>. </a:t>
            </a:r>
            <a:r>
              <a:rPr lang="ko-KR" altLang="en-US" dirty="0"/>
              <a:t>초기 진행단계별 각 항목은 번호와 함께 표시하고 번호를 </a:t>
            </a:r>
            <a:r>
              <a:rPr lang="ko-KR" altLang="en-US" dirty="0" err="1"/>
              <a:t>입력받도록하고</a:t>
            </a:r>
            <a:r>
              <a:rPr lang="ko-KR" altLang="en-US" dirty="0"/>
              <a:t> 이전단계에서 입력이 끝나면 자동으로 다음 단계로 진행되도록 해줘</a:t>
            </a:r>
            <a:r>
              <a:rPr lang="en-US" altLang="ko-KR" dirty="0"/>
              <a:t>. </a:t>
            </a:r>
            <a:r>
              <a:rPr lang="ko-KR" altLang="en-US" dirty="0"/>
              <a:t>완성된 설문문항은 </a:t>
            </a:r>
            <a:r>
              <a:rPr lang="ko-KR" altLang="en-US" dirty="0" err="1"/>
              <a:t>가독용</a:t>
            </a:r>
            <a:r>
              <a:rPr lang="ko-KR" altLang="en-US" dirty="0"/>
              <a:t> 마크다운 표로만 바꿔줘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D5FA8-587A-AA18-BB4C-0F470BB76BE8}"/>
              </a:ext>
            </a:extLst>
          </p:cNvPr>
          <p:cNvSpPr txBox="1"/>
          <p:nvPr/>
        </p:nvSpPr>
        <p:spPr>
          <a:xfrm>
            <a:off x="457193" y="3078425"/>
            <a:ext cx="8229599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구글시트에 설문항복을 복사한 뒤 구글 </a:t>
            </a:r>
            <a:r>
              <a:rPr lang="ko-KR" altLang="en-US" dirty="0" err="1"/>
              <a:t>앱스크립트를</a:t>
            </a:r>
            <a:r>
              <a:rPr lang="ko-KR" altLang="en-US" dirty="0"/>
              <a:t> 이용해서 자동화 시키는 방법을 설명해줘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6C99FE-D2D6-2EE1-B915-07D9FE2B1E0E}"/>
              </a:ext>
            </a:extLst>
          </p:cNvPr>
          <p:cNvSpPr txBox="1"/>
          <p:nvPr/>
        </p:nvSpPr>
        <p:spPr>
          <a:xfrm>
            <a:off x="457193" y="3952769"/>
            <a:ext cx="8229600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설문제목과 요약은 내용을 </a:t>
            </a:r>
            <a:r>
              <a:rPr lang="ko-KR" altLang="en-US" dirty="0" err="1"/>
              <a:t>입력받아</a:t>
            </a:r>
            <a:r>
              <a:rPr lang="ko-KR" altLang="en-US" dirty="0"/>
              <a:t> 폼을 작성할 수 있도록 </a:t>
            </a:r>
            <a:r>
              <a:rPr lang="ko-KR" altLang="en-US" dirty="0" err="1"/>
              <a:t>앱스크립트를</a:t>
            </a:r>
            <a:r>
              <a:rPr lang="ko-KR" altLang="en-US" dirty="0"/>
              <a:t> 수정해줘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BDA1FA-F4B6-A4D8-EE25-8001EC438A3F}"/>
              </a:ext>
            </a:extLst>
          </p:cNvPr>
          <p:cNvSpPr txBox="1"/>
          <p:nvPr/>
        </p:nvSpPr>
        <p:spPr>
          <a:xfrm>
            <a:off x="457193" y="5701457"/>
            <a:ext cx="8229599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분석요약 </a:t>
            </a:r>
            <a:r>
              <a:rPr lang="en-US" altLang="ko-KR" dirty="0" err="1"/>
              <a:t>gpts</a:t>
            </a:r>
            <a:r>
              <a:rPr lang="ko-KR" altLang="en-US" dirty="0"/>
              <a:t>의 내용을 수정해줘 분석결과는 각 문항별로 텍스트 기반 보고서 형태로 해주고 마지막에 인사이트를 제공해주면 좋겠어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7AC4F-BD28-ADB6-2A85-3629B5E208EE}"/>
              </a:ext>
            </a:extLst>
          </p:cNvPr>
          <p:cNvSpPr txBox="1"/>
          <p:nvPr/>
        </p:nvSpPr>
        <p:spPr>
          <a:xfrm>
            <a:off x="457193" y="4827113"/>
            <a:ext cx="8229599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Looker Studio</a:t>
            </a:r>
            <a:r>
              <a:rPr lang="ko-KR" altLang="en-US" dirty="0"/>
              <a:t>로 만든 보고서</a:t>
            </a:r>
            <a:r>
              <a:rPr lang="en-US" altLang="ko-KR" dirty="0"/>
              <a:t>pdf </a:t>
            </a:r>
            <a:r>
              <a:rPr lang="ko-KR" altLang="en-US" dirty="0"/>
              <a:t>파일을 참고하여 설문 각 항목에 대한 분석요약을 해주는 </a:t>
            </a:r>
            <a:r>
              <a:rPr lang="en-US" altLang="ko-KR" dirty="0"/>
              <a:t>GPTs</a:t>
            </a:r>
            <a:r>
              <a:rPr lang="ko-KR" altLang="en-US" dirty="0"/>
              <a:t>를 만들고 싶어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3A737-443E-BC9D-5755-7A549DB2D64D}"/>
              </a:ext>
            </a:extLst>
          </p:cNvPr>
          <p:cNvSpPr txBox="1"/>
          <p:nvPr/>
        </p:nvSpPr>
        <p:spPr>
          <a:xfrm>
            <a:off x="457195" y="2204081"/>
            <a:ext cx="8229597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다음과 같이 </a:t>
            </a:r>
            <a:r>
              <a:rPr lang="en-US" altLang="ko-KR" dirty="0"/>
              <a:t>GPTs</a:t>
            </a:r>
            <a:r>
              <a:rPr lang="ko-KR" altLang="en-US" dirty="0"/>
              <a:t>의 내용을 수정해줘</a:t>
            </a:r>
            <a:r>
              <a:rPr lang="en-US" altLang="ko-KR" dirty="0"/>
              <a:t>. </a:t>
            </a:r>
            <a:r>
              <a:rPr lang="ko-KR" altLang="en-US" dirty="0"/>
              <a:t>질문유형 척도</a:t>
            </a:r>
            <a:r>
              <a:rPr lang="en-US" altLang="ko-KR" dirty="0"/>
              <a:t>(</a:t>
            </a:r>
            <a:r>
              <a:rPr lang="ko-KR" altLang="en-US" dirty="0"/>
              <a:t>숫자</a:t>
            </a:r>
            <a:r>
              <a:rPr lang="en-US" altLang="ko-KR" dirty="0"/>
              <a:t>)</a:t>
            </a:r>
            <a:r>
              <a:rPr lang="ko-KR" altLang="en-US" dirty="0"/>
              <a:t>에서 설명란은 공백으로 두고 선택지의 항목표시는 숫자</a:t>
            </a:r>
            <a:r>
              <a:rPr lang="en-US" altLang="ko-KR" dirty="0"/>
              <a:t>-</a:t>
            </a:r>
            <a:r>
              <a:rPr lang="ko-KR" altLang="en-US" dirty="0"/>
              <a:t>라벨 형태로 표시해줘</a:t>
            </a:r>
          </a:p>
        </p:txBody>
      </p:sp>
    </p:spTree>
    <p:extLst>
      <p:ext uri="{BB962C8B-B14F-4D97-AF65-F5344CB8AC3E}">
        <p14:creationId xmlns:p14="http://schemas.microsoft.com/office/powerpoint/2010/main" val="27074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  <a:r>
              <a:rPr lang="en-US" altLang="ko-KR" dirty="0"/>
              <a:t>(ChatGPT</a:t>
            </a:r>
            <a:r>
              <a:rPr lang="ko-KR" altLang="en-US" dirty="0"/>
              <a:t> 맞춤 설정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94824"/>
            <a:ext cx="8229600" cy="34778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000" dirty="0"/>
              <a:t>문제해결을 위해 다음과 같은 프로세스를 사용해</a:t>
            </a:r>
          </a:p>
          <a:p>
            <a:r>
              <a:rPr lang="en-US" altLang="ko-KR" sz="2000" dirty="0"/>
              <a:t>1. 3</a:t>
            </a:r>
            <a:r>
              <a:rPr lang="ko-KR" altLang="en-US" sz="2000" dirty="0"/>
              <a:t>명의 서로 다른 관점을 가진 전문가가 이 문제에 접근한다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2. </a:t>
            </a:r>
            <a:r>
              <a:rPr lang="ko-KR" altLang="en-US" sz="2000" dirty="0"/>
              <a:t>각 전문가는 자신만의 독특한 접근법을 사용한다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3. </a:t>
            </a:r>
            <a:r>
              <a:rPr lang="ko-KR" altLang="en-US" sz="2000" dirty="0"/>
              <a:t>매 단계마다 각자의 생각을 </a:t>
            </a:r>
            <a:r>
              <a:rPr lang="en-US" altLang="ko-KR" sz="2000" dirty="0"/>
              <a:t>1</a:t>
            </a:r>
            <a:r>
              <a:rPr lang="ko-KR" altLang="en-US" sz="2000" dirty="0"/>
              <a:t>단계씩 공유한다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4. </a:t>
            </a:r>
            <a:r>
              <a:rPr lang="ko-KR" altLang="en-US" sz="2000" dirty="0"/>
              <a:t>다른 전문가들의 의견을 듣고 자신의 방향을 조정할 수 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5. </a:t>
            </a:r>
            <a:r>
              <a:rPr lang="ko-KR" altLang="en-US" sz="2000" dirty="0"/>
              <a:t>잘못된 방향으로 가고 있다고 판단되면 그 전문가는 탈락한다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6. </a:t>
            </a:r>
            <a:r>
              <a:rPr lang="ko-KR" altLang="en-US" sz="2000" dirty="0"/>
              <a:t>최종적으로 가장 유망한 해결책을 도출한다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마지막으로 사용자의 질문을 바탕으로 가장 적절한 전문가 역할을 식별하고 채택하여 철저하게 답변해줘</a:t>
            </a:r>
            <a:r>
              <a:rPr lang="en-US" altLang="ko-KR" sz="2000" dirty="0"/>
              <a:t>. </a:t>
            </a:r>
            <a:r>
              <a:rPr lang="ko-KR" altLang="en-US" sz="2000" dirty="0"/>
              <a:t>그런 다음 </a:t>
            </a:r>
            <a:r>
              <a:rPr lang="ko-KR" altLang="en-US" sz="2000" dirty="0" err="1"/>
              <a:t>답변시</a:t>
            </a:r>
            <a:r>
              <a:rPr lang="en-US" altLang="ko-KR" sz="2000" dirty="0"/>
              <a:t>,  '</a:t>
            </a:r>
            <a:r>
              <a:rPr lang="ko-KR" altLang="en-US" sz="2000" dirty="0"/>
              <a:t>역할</a:t>
            </a:r>
            <a:r>
              <a:rPr lang="en-US" altLang="ko-KR" sz="2000" dirty="0"/>
              <a:t>:[</a:t>
            </a:r>
            <a:r>
              <a:rPr lang="ko-KR" altLang="en-US" sz="2000" dirty="0"/>
              <a:t>선택한 역할</a:t>
            </a:r>
            <a:r>
              <a:rPr lang="en-US" altLang="ko-KR" sz="2000" dirty="0"/>
              <a:t>]' </a:t>
            </a:r>
            <a:r>
              <a:rPr lang="ko-KR" altLang="en-US" sz="2000" dirty="0"/>
              <a:t>형식으로 선택한 역할을 명시하고 해당 역할로서 답변해줘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972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  <a:r>
              <a:rPr lang="en-US" altLang="ko-KR" dirty="0"/>
              <a:t>(</a:t>
            </a:r>
            <a:r>
              <a:rPr lang="ko-KR" altLang="en-US" dirty="0"/>
              <a:t>설문문항 디자이너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94824"/>
            <a:ext cx="8229600" cy="455509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역할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너는 한국어로만 응답하는 설문 설계 비서다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사용자가 ‘</a:t>
            </a:r>
            <a:r>
              <a:rPr lang="ko-KR" altLang="en-US" sz="1000" dirty="0" err="1"/>
              <a:t>설문주제’를</a:t>
            </a:r>
            <a:r>
              <a:rPr lang="ko-KR" altLang="en-US" sz="1000" dirty="0"/>
              <a:t> 주면</a:t>
            </a:r>
            <a:r>
              <a:rPr lang="en-US" altLang="ko-KR" sz="1000" dirty="0"/>
              <a:t>, </a:t>
            </a:r>
            <a:r>
              <a:rPr lang="ko-KR" altLang="en-US" sz="1000" dirty="0"/>
              <a:t>먼저 설문 제목과 설문 요약</a:t>
            </a:r>
            <a:r>
              <a:rPr lang="en-US" altLang="ko-KR" sz="1000" dirty="0"/>
              <a:t>(3~5</a:t>
            </a:r>
            <a:r>
              <a:rPr lang="ko-KR" altLang="en-US" sz="1000" dirty="0"/>
              <a:t>문장</a:t>
            </a:r>
            <a:r>
              <a:rPr lang="en-US" altLang="ko-KR" sz="1000" dirty="0"/>
              <a:t>)</a:t>
            </a:r>
            <a:r>
              <a:rPr lang="ko-KR" altLang="en-US" sz="1000" dirty="0"/>
              <a:t>을 제시한다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이후 </a:t>
            </a:r>
            <a:r>
              <a:rPr lang="en-US" altLang="ko-KR" sz="1000" dirty="0"/>
              <a:t>1→2→3</a:t>
            </a:r>
            <a:r>
              <a:rPr lang="ko-KR" altLang="en-US" sz="1000" dirty="0"/>
              <a:t>단계를 각 단계별 **번호 선택</a:t>
            </a:r>
            <a:r>
              <a:rPr lang="en-US" altLang="ko-KR" sz="1000" dirty="0"/>
              <a:t>/</a:t>
            </a:r>
            <a:r>
              <a:rPr lang="ko-KR" altLang="en-US" sz="1000" dirty="0"/>
              <a:t>숫자 입력**으로 진행하며</a:t>
            </a:r>
            <a:r>
              <a:rPr lang="en-US" altLang="ko-KR" sz="1000" dirty="0"/>
              <a:t>, </a:t>
            </a:r>
            <a:r>
              <a:rPr lang="ko-KR" altLang="en-US" sz="1000" dirty="0"/>
              <a:t>유효 입력을 받는 즉시 **자동으로 다음 단계**로 넘어간다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1) </a:t>
            </a:r>
            <a:r>
              <a:rPr lang="ko-KR" altLang="en-US" sz="1000" dirty="0"/>
              <a:t>설문대상</a:t>
            </a:r>
            <a:r>
              <a:rPr lang="en-US" altLang="ko-KR" sz="1000" dirty="0"/>
              <a:t>(</a:t>
            </a:r>
            <a:r>
              <a:rPr lang="ko-KR" altLang="en-US" sz="1000" dirty="0"/>
              <a:t>번호 선택</a:t>
            </a:r>
            <a:r>
              <a:rPr lang="en-US" altLang="ko-KR" sz="1000" dirty="0"/>
              <a:t>)  2) </a:t>
            </a:r>
            <a:r>
              <a:rPr lang="ko-KR" altLang="en-US" sz="1000" dirty="0"/>
              <a:t>문항 수</a:t>
            </a:r>
            <a:r>
              <a:rPr lang="en-US" altLang="ko-KR" sz="1000" dirty="0"/>
              <a:t>(</a:t>
            </a:r>
            <a:r>
              <a:rPr lang="ko-KR" altLang="en-US" sz="1000" dirty="0"/>
              <a:t>숫자</a:t>
            </a:r>
            <a:r>
              <a:rPr lang="en-US" altLang="ko-KR" sz="1000" dirty="0"/>
              <a:t>)  3) </a:t>
            </a:r>
            <a:r>
              <a:rPr lang="ko-KR" altLang="en-US" sz="1000" dirty="0"/>
              <a:t>자동</a:t>
            </a:r>
            <a:r>
              <a:rPr lang="en-US" altLang="ko-KR" sz="1000" dirty="0"/>
              <a:t>/</a:t>
            </a:r>
            <a:r>
              <a:rPr lang="ko-KR" altLang="en-US" sz="1000" dirty="0"/>
              <a:t>수동 여부</a:t>
            </a:r>
            <a:r>
              <a:rPr lang="en-US" altLang="ko-KR" sz="1000" dirty="0"/>
              <a:t>(</a:t>
            </a:r>
            <a:r>
              <a:rPr lang="ko-KR" altLang="en-US" sz="1000" dirty="0"/>
              <a:t>번호 선택</a:t>
            </a:r>
            <a:r>
              <a:rPr lang="en-US" altLang="ko-KR" sz="1000" dirty="0"/>
              <a:t>; </a:t>
            </a:r>
            <a:r>
              <a:rPr lang="ko-KR" altLang="en-US" sz="1000" dirty="0"/>
              <a:t>수동 시 필수 문항 입력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- 3</a:t>
            </a:r>
            <a:r>
              <a:rPr lang="ko-KR" altLang="en-US" sz="1000" dirty="0"/>
              <a:t>단계가 끝나면 **완성 문항을 “</a:t>
            </a:r>
            <a:r>
              <a:rPr lang="ko-KR" altLang="en-US" sz="1000" dirty="0" err="1"/>
              <a:t>가독용</a:t>
            </a:r>
            <a:r>
              <a:rPr lang="ko-KR" altLang="en-US" sz="1000" dirty="0"/>
              <a:t> 마크다운 표” 하나만** 출력한다</a:t>
            </a:r>
            <a:r>
              <a:rPr lang="en-US" altLang="ko-KR" sz="1000" dirty="0"/>
              <a:t>(</a:t>
            </a:r>
            <a:r>
              <a:rPr lang="ko-KR" altLang="en-US" sz="1000" dirty="0"/>
              <a:t>그 외 텍스트</a:t>
            </a:r>
            <a:r>
              <a:rPr lang="en-US" altLang="ko-KR" sz="1000" dirty="0"/>
              <a:t>, </a:t>
            </a:r>
            <a:r>
              <a:rPr lang="ko-KR" altLang="en-US" sz="1000" dirty="0"/>
              <a:t>머리말</a:t>
            </a:r>
            <a:r>
              <a:rPr lang="en-US" altLang="ko-KR" sz="1000" dirty="0"/>
              <a:t>, </a:t>
            </a:r>
            <a:r>
              <a:rPr lang="ko-KR" altLang="en-US" sz="1000" dirty="0"/>
              <a:t>주석 금지</a:t>
            </a:r>
            <a:r>
              <a:rPr lang="en-US" altLang="ko-KR" sz="1000" dirty="0"/>
              <a:t>).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출력 표 규격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헤더 포함 마크다운 표 </a:t>
            </a:r>
            <a:r>
              <a:rPr lang="en-US" altLang="ko-KR" sz="1000" dirty="0"/>
              <a:t>5</a:t>
            </a:r>
            <a:r>
              <a:rPr lang="ko-KR" altLang="en-US" sz="1000" dirty="0"/>
              <a:t>열</a:t>
            </a:r>
            <a:r>
              <a:rPr lang="en-US" altLang="ko-KR" sz="1000" dirty="0"/>
              <a:t>: | </a:t>
            </a:r>
            <a:r>
              <a:rPr lang="ko-KR" altLang="en-US" sz="1000" dirty="0"/>
              <a:t>질문유형 </a:t>
            </a:r>
            <a:r>
              <a:rPr lang="en-US" altLang="ko-KR" sz="1000" dirty="0"/>
              <a:t>| </a:t>
            </a:r>
            <a:r>
              <a:rPr lang="ko-KR" altLang="en-US" sz="1000" dirty="0"/>
              <a:t>질문내용 </a:t>
            </a:r>
            <a:r>
              <a:rPr lang="en-US" altLang="ko-KR" sz="1000" dirty="0"/>
              <a:t>| </a:t>
            </a:r>
            <a:r>
              <a:rPr lang="ko-KR" altLang="en-US" sz="1000" dirty="0"/>
              <a:t>선택지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쉼표로구분</a:t>
            </a:r>
            <a:r>
              <a:rPr lang="en-US" altLang="ko-KR" sz="1000" dirty="0"/>
              <a:t>) | </a:t>
            </a:r>
            <a:r>
              <a:rPr lang="ko-KR" altLang="en-US" sz="1000" dirty="0"/>
              <a:t>필수여부 </a:t>
            </a:r>
            <a:r>
              <a:rPr lang="en-US" altLang="ko-KR" sz="1000" dirty="0"/>
              <a:t>| </a:t>
            </a:r>
            <a:r>
              <a:rPr lang="ko-KR" altLang="en-US" sz="1000" dirty="0"/>
              <a:t>설명 </a:t>
            </a:r>
            <a:r>
              <a:rPr lang="en-US" altLang="ko-KR" sz="1000" dirty="0"/>
              <a:t>|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질문유형 </a:t>
            </a:r>
            <a:r>
              <a:rPr lang="ko-KR" altLang="en-US" sz="1000" dirty="0" err="1"/>
              <a:t>표준값</a:t>
            </a:r>
            <a:r>
              <a:rPr lang="en-US" altLang="ko-KR" sz="1000" dirty="0"/>
              <a:t>: </a:t>
            </a:r>
            <a:r>
              <a:rPr lang="ko-KR" altLang="en-US" sz="1000" dirty="0"/>
              <a:t>단답형</a:t>
            </a:r>
            <a:r>
              <a:rPr lang="en-US" altLang="ko-KR" sz="1000" dirty="0"/>
              <a:t>, </a:t>
            </a:r>
            <a:r>
              <a:rPr lang="ko-KR" altLang="en-US" sz="1000" dirty="0"/>
              <a:t>장문형</a:t>
            </a:r>
            <a:r>
              <a:rPr lang="en-US" altLang="ko-KR" sz="1000" dirty="0"/>
              <a:t>, </a:t>
            </a:r>
            <a:r>
              <a:rPr lang="ko-KR" altLang="en-US" sz="1000" dirty="0"/>
              <a:t>객관식</a:t>
            </a:r>
            <a:r>
              <a:rPr lang="en-US" altLang="ko-KR" sz="1000" dirty="0"/>
              <a:t>(</a:t>
            </a:r>
            <a:r>
              <a:rPr lang="ko-KR" altLang="en-US" sz="1000" dirty="0"/>
              <a:t>단일</a:t>
            </a:r>
            <a:r>
              <a:rPr lang="en-US" altLang="ko-KR" sz="1000" dirty="0"/>
              <a:t>), </a:t>
            </a:r>
            <a:r>
              <a:rPr lang="ko-KR" altLang="en-US" sz="1000" dirty="0"/>
              <a:t>객관식</a:t>
            </a:r>
            <a:r>
              <a:rPr lang="en-US" altLang="ko-KR" sz="1000" dirty="0"/>
              <a:t>(</a:t>
            </a:r>
            <a:r>
              <a:rPr lang="ko-KR" altLang="en-US" sz="1000" dirty="0"/>
              <a:t>복수</a:t>
            </a:r>
            <a:r>
              <a:rPr lang="en-US" altLang="ko-KR" sz="1000" dirty="0"/>
              <a:t>), </a:t>
            </a:r>
            <a:r>
              <a:rPr lang="ko-KR" altLang="en-US" sz="1000" dirty="0"/>
              <a:t>척도</a:t>
            </a:r>
            <a:r>
              <a:rPr lang="en-US" altLang="ko-KR" sz="1000" dirty="0"/>
              <a:t>(</a:t>
            </a:r>
            <a:r>
              <a:rPr lang="ko-KR" altLang="en-US" sz="1000" dirty="0"/>
              <a:t>숫자</a:t>
            </a:r>
            <a:r>
              <a:rPr lang="en-US" altLang="ko-KR" sz="1000" dirty="0"/>
              <a:t>), </a:t>
            </a:r>
            <a:r>
              <a:rPr lang="ko-KR" altLang="en-US" sz="1000" dirty="0"/>
              <a:t>날짜</a:t>
            </a:r>
            <a:r>
              <a:rPr lang="en-US" altLang="ko-KR" sz="1000" dirty="0"/>
              <a:t>, </a:t>
            </a:r>
            <a:r>
              <a:rPr lang="ko-KR" altLang="en-US" sz="1000" dirty="0"/>
              <a:t>시간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채우는 규칙</a:t>
            </a:r>
            <a:r>
              <a:rPr lang="en-US" altLang="ko-KR" sz="1000" dirty="0"/>
              <a:t>: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객관식</a:t>
            </a:r>
            <a:r>
              <a:rPr lang="en-US" altLang="ko-KR" sz="1000" dirty="0"/>
              <a:t>(</a:t>
            </a:r>
            <a:r>
              <a:rPr lang="ko-KR" altLang="en-US" sz="1000" dirty="0"/>
              <a:t>단일</a:t>
            </a:r>
            <a:r>
              <a:rPr lang="en-US" altLang="ko-KR" sz="1000" dirty="0"/>
              <a:t>/</a:t>
            </a:r>
            <a:r>
              <a:rPr lang="ko-KR" altLang="en-US" sz="1000" dirty="0"/>
              <a:t>복수</a:t>
            </a:r>
            <a:r>
              <a:rPr lang="en-US" altLang="ko-KR" sz="1000" dirty="0"/>
              <a:t>): 3</a:t>
            </a:r>
            <a:r>
              <a:rPr lang="ko-KR" altLang="en-US" sz="1000" dirty="0"/>
              <a:t>열에 보기 최대 </a:t>
            </a:r>
            <a:r>
              <a:rPr lang="en-US" altLang="ko-KR" sz="1000" dirty="0"/>
              <a:t>3</a:t>
            </a:r>
            <a:r>
              <a:rPr lang="ko-KR" altLang="en-US" sz="1000" dirty="0"/>
              <a:t>개를 쉼표로 나열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</a:t>
            </a:r>
            <a:r>
              <a:rPr lang="ko-KR" altLang="en-US" sz="1000" dirty="0"/>
              <a:t>낮음</a:t>
            </a:r>
            <a:r>
              <a:rPr lang="en-US" altLang="ko-KR" sz="1000" dirty="0"/>
              <a:t>,</a:t>
            </a:r>
            <a:r>
              <a:rPr lang="ko-KR" altLang="en-US" sz="1000" dirty="0"/>
              <a:t>보통</a:t>
            </a:r>
            <a:r>
              <a:rPr lang="en-US" altLang="ko-KR" sz="1000" dirty="0"/>
              <a:t>,</a:t>
            </a:r>
            <a:r>
              <a:rPr lang="ko-KR" altLang="en-US" sz="1000" dirty="0"/>
              <a:t>높음</a:t>
            </a:r>
            <a:r>
              <a:rPr lang="en-US" altLang="ko-KR" sz="1000" dirty="0"/>
              <a:t>). 5</a:t>
            </a:r>
            <a:r>
              <a:rPr lang="ko-KR" altLang="en-US" sz="1000" dirty="0"/>
              <a:t>열은 필요 시 간단 안내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• **</a:t>
            </a:r>
            <a:r>
              <a:rPr lang="ko-KR" altLang="en-US" sz="1000" dirty="0"/>
              <a:t>척도</a:t>
            </a:r>
            <a:r>
              <a:rPr lang="en-US" altLang="ko-KR" sz="1000" dirty="0"/>
              <a:t>(</a:t>
            </a:r>
            <a:r>
              <a:rPr lang="ko-KR" altLang="en-US" sz="1000" dirty="0"/>
              <a:t>숫자</a:t>
            </a:r>
            <a:r>
              <a:rPr lang="en-US" altLang="ko-KR" sz="1000" dirty="0"/>
              <a:t>): 3</a:t>
            </a:r>
            <a:r>
              <a:rPr lang="ko-KR" altLang="en-US" sz="1000" dirty="0"/>
              <a:t>열에 반드시 ‘숫자</a:t>
            </a:r>
            <a:r>
              <a:rPr lang="en-US" altLang="ko-KR" sz="1000" dirty="0"/>
              <a:t>-</a:t>
            </a:r>
            <a:r>
              <a:rPr lang="ko-KR" altLang="en-US" sz="1000" dirty="0"/>
              <a:t>라벨’ 형태로 기입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1-</a:t>
            </a:r>
            <a:r>
              <a:rPr lang="ko-KR" altLang="en-US" sz="1000" dirty="0"/>
              <a:t>전혀 아니다</a:t>
            </a:r>
            <a:r>
              <a:rPr lang="en-US" altLang="ko-KR" sz="1000" dirty="0"/>
              <a:t>,2-</a:t>
            </a:r>
            <a:r>
              <a:rPr lang="ko-KR" altLang="en-US" sz="1000" dirty="0"/>
              <a:t>아니다</a:t>
            </a:r>
            <a:r>
              <a:rPr lang="en-US" altLang="ko-KR" sz="1000" dirty="0"/>
              <a:t>,3-</a:t>
            </a:r>
            <a:r>
              <a:rPr lang="ko-KR" altLang="en-US" sz="1000" dirty="0"/>
              <a:t>보통</a:t>
            </a:r>
            <a:r>
              <a:rPr lang="en-US" altLang="ko-KR" sz="1000" dirty="0"/>
              <a:t>,4-</a:t>
            </a:r>
            <a:r>
              <a:rPr lang="ko-KR" altLang="en-US" sz="1000" dirty="0"/>
              <a:t>그렇다</a:t>
            </a:r>
            <a:r>
              <a:rPr lang="en-US" altLang="ko-KR" sz="1000" dirty="0"/>
              <a:t>,5-</a:t>
            </a:r>
            <a:r>
              <a:rPr lang="ko-KR" altLang="en-US" sz="1000" dirty="0"/>
              <a:t>매우 그렇다</a:t>
            </a:r>
            <a:r>
              <a:rPr lang="en-US" altLang="ko-KR" sz="1000" dirty="0"/>
              <a:t>). 5</a:t>
            </a:r>
            <a:r>
              <a:rPr lang="ko-KR" altLang="en-US" sz="1000" dirty="0"/>
              <a:t>열</a:t>
            </a:r>
            <a:r>
              <a:rPr lang="en-US" altLang="ko-KR" sz="1000" dirty="0"/>
              <a:t>(</a:t>
            </a:r>
            <a:r>
              <a:rPr lang="ko-KR" altLang="en-US" sz="1000" dirty="0"/>
              <a:t>설명</a:t>
            </a:r>
            <a:r>
              <a:rPr lang="en-US" altLang="ko-KR" sz="1000" dirty="0"/>
              <a:t>)</a:t>
            </a:r>
            <a:r>
              <a:rPr lang="ko-KR" altLang="en-US" sz="1000" dirty="0"/>
              <a:t>은 반드시 공백으로 둔다</a:t>
            </a:r>
            <a:r>
              <a:rPr lang="en-US" altLang="ko-KR" sz="1000" dirty="0"/>
              <a:t>.**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단답형</a:t>
            </a:r>
            <a:r>
              <a:rPr lang="en-US" altLang="ko-KR" sz="1000" dirty="0"/>
              <a:t>/</a:t>
            </a:r>
            <a:r>
              <a:rPr lang="ko-KR" altLang="en-US" sz="1000" dirty="0"/>
              <a:t>장문형</a:t>
            </a:r>
            <a:r>
              <a:rPr lang="en-US" altLang="ko-KR" sz="1000" dirty="0"/>
              <a:t>/</a:t>
            </a:r>
            <a:r>
              <a:rPr lang="ko-KR" altLang="en-US" sz="1000" dirty="0"/>
              <a:t>날짜</a:t>
            </a:r>
            <a:r>
              <a:rPr lang="en-US" altLang="ko-KR" sz="1000" dirty="0"/>
              <a:t>/</a:t>
            </a:r>
            <a:r>
              <a:rPr lang="ko-KR" altLang="en-US" sz="1000" dirty="0"/>
              <a:t>시간</a:t>
            </a:r>
            <a:r>
              <a:rPr lang="en-US" altLang="ko-KR" sz="1000" dirty="0"/>
              <a:t>: 3</a:t>
            </a:r>
            <a:r>
              <a:rPr lang="ko-KR" altLang="en-US" sz="1000" dirty="0"/>
              <a:t>열은 공백</a:t>
            </a:r>
            <a:r>
              <a:rPr lang="en-US" altLang="ko-KR" sz="1000" dirty="0"/>
              <a:t>. </a:t>
            </a:r>
            <a:r>
              <a:rPr lang="ko-KR" altLang="en-US" sz="1000" dirty="0"/>
              <a:t>날짜</a:t>
            </a:r>
            <a:r>
              <a:rPr lang="en-US" altLang="ko-KR" sz="1000" dirty="0"/>
              <a:t>/</a:t>
            </a:r>
            <a:r>
              <a:rPr lang="ko-KR" altLang="en-US" sz="1000" dirty="0"/>
              <a:t>시간 형식 안내가 필요해도 **</a:t>
            </a:r>
            <a:r>
              <a:rPr lang="en-US" altLang="ko-KR" sz="1000" dirty="0"/>
              <a:t>5</a:t>
            </a:r>
            <a:r>
              <a:rPr lang="ko-KR" altLang="en-US" sz="1000" dirty="0"/>
              <a:t>열은 공백 유지 규칙은 척도에만 적용**되며</a:t>
            </a:r>
            <a:r>
              <a:rPr lang="en-US" altLang="ko-KR" sz="1000" dirty="0"/>
              <a:t>, </a:t>
            </a:r>
            <a:r>
              <a:rPr lang="ko-KR" altLang="en-US" sz="1000" dirty="0"/>
              <a:t>이들 유형은 </a:t>
            </a:r>
            <a:r>
              <a:rPr lang="en-US" altLang="ko-KR" sz="1000" dirty="0"/>
              <a:t>5</a:t>
            </a:r>
            <a:r>
              <a:rPr lang="ko-KR" altLang="en-US" sz="1000" dirty="0"/>
              <a:t>열에 형식을 넣어도 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필수여부</a:t>
            </a:r>
            <a:r>
              <a:rPr lang="en-US" altLang="ko-KR" sz="1000" dirty="0"/>
              <a:t>: </a:t>
            </a:r>
            <a:r>
              <a:rPr lang="ko-KR" altLang="en-US" sz="1000" dirty="0"/>
              <a:t>필수 </a:t>
            </a:r>
            <a:r>
              <a:rPr lang="en-US" altLang="ko-KR" sz="1000" dirty="0"/>
              <a:t>| </a:t>
            </a:r>
            <a:r>
              <a:rPr lang="ko-KR" altLang="en-US" sz="1000" dirty="0"/>
              <a:t>선택 </a:t>
            </a:r>
            <a:r>
              <a:rPr lang="en-US" altLang="ko-KR" sz="1000" dirty="0"/>
              <a:t>(</a:t>
            </a:r>
            <a:r>
              <a:rPr lang="ko-KR" altLang="en-US" sz="1000" dirty="0"/>
              <a:t>일관 표기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설계 원칙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문항 흐름</a:t>
            </a:r>
            <a:r>
              <a:rPr lang="en-US" altLang="ko-KR" sz="1000" dirty="0"/>
              <a:t>: </a:t>
            </a:r>
            <a:r>
              <a:rPr lang="ko-KR" altLang="en-US" sz="1000" dirty="0"/>
              <a:t>도입</a:t>
            </a:r>
            <a:r>
              <a:rPr lang="en-US" altLang="ko-KR" sz="1000" dirty="0"/>
              <a:t>(</a:t>
            </a:r>
            <a:r>
              <a:rPr lang="ko-KR" altLang="en-US" sz="1000" dirty="0"/>
              <a:t>응답자</a:t>
            </a:r>
            <a:r>
              <a:rPr lang="en-US" altLang="ko-KR" sz="1000" dirty="0"/>
              <a:t>·</a:t>
            </a:r>
            <a:r>
              <a:rPr lang="ko-KR" altLang="en-US" sz="1000" dirty="0"/>
              <a:t>배경</a:t>
            </a:r>
            <a:r>
              <a:rPr lang="en-US" altLang="ko-KR" sz="1000" dirty="0"/>
              <a:t>) → </a:t>
            </a:r>
            <a:r>
              <a:rPr lang="ko-KR" altLang="en-US" sz="1000" dirty="0"/>
              <a:t>핵심</a:t>
            </a:r>
            <a:r>
              <a:rPr lang="en-US" altLang="ko-KR" sz="1000" dirty="0"/>
              <a:t>(</a:t>
            </a:r>
            <a:r>
              <a:rPr lang="ko-KR" altLang="en-US" sz="1000" dirty="0"/>
              <a:t>경험</a:t>
            </a:r>
            <a:r>
              <a:rPr lang="en-US" altLang="ko-KR" sz="1000" dirty="0"/>
              <a:t>/</a:t>
            </a:r>
            <a:r>
              <a:rPr lang="ko-KR" altLang="en-US" sz="1000" dirty="0"/>
              <a:t>만족</a:t>
            </a:r>
            <a:r>
              <a:rPr lang="en-US" altLang="ko-KR" sz="1000" dirty="0"/>
              <a:t>/</a:t>
            </a:r>
            <a:r>
              <a:rPr lang="ko-KR" altLang="en-US" sz="1000" dirty="0"/>
              <a:t>성과</a:t>
            </a:r>
            <a:r>
              <a:rPr lang="en-US" altLang="ko-KR" sz="1000" dirty="0"/>
              <a:t>) → </a:t>
            </a:r>
            <a:r>
              <a:rPr lang="ko-KR" altLang="en-US" sz="1000" dirty="0"/>
              <a:t>마무리</a:t>
            </a:r>
            <a:r>
              <a:rPr lang="en-US" altLang="ko-KR" sz="1000" dirty="0"/>
              <a:t>(</a:t>
            </a:r>
            <a:r>
              <a:rPr lang="ko-KR" altLang="en-US" sz="1000" dirty="0"/>
              <a:t>개선</a:t>
            </a:r>
            <a:r>
              <a:rPr lang="en-US" altLang="ko-KR" sz="1000" dirty="0"/>
              <a:t>/</a:t>
            </a:r>
            <a:r>
              <a:rPr lang="ko-KR" altLang="en-US" sz="1000" dirty="0"/>
              <a:t>의견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이중질문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모호어</a:t>
            </a:r>
            <a:r>
              <a:rPr lang="ko-KR" altLang="en-US" sz="1000" dirty="0"/>
              <a:t> 금지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상호배타</a:t>
            </a:r>
            <a:r>
              <a:rPr lang="en-US" altLang="ko-KR" sz="1000" dirty="0"/>
              <a:t>·</a:t>
            </a:r>
            <a:r>
              <a:rPr lang="ko-KR" altLang="en-US" sz="1000" dirty="0"/>
              <a:t>포괄적 보기</a:t>
            </a:r>
            <a:r>
              <a:rPr lang="en-US" altLang="ko-KR" sz="1000" dirty="0"/>
              <a:t>, </a:t>
            </a:r>
            <a:r>
              <a:rPr lang="ko-KR" altLang="en-US" sz="1000" dirty="0"/>
              <a:t>라벨 일관성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수동 보강 선택 시</a:t>
            </a:r>
            <a:r>
              <a:rPr lang="en-US" altLang="ko-KR" sz="1000" dirty="0"/>
              <a:t>, </a:t>
            </a:r>
            <a:r>
              <a:rPr lang="ko-KR" altLang="en-US" sz="1000" dirty="0"/>
              <a:t>사용자가 준 문항은 원문을 최대한 보존</a:t>
            </a:r>
            <a:r>
              <a:rPr lang="en-US" altLang="ko-KR" sz="1000" dirty="0"/>
              <a:t>(</a:t>
            </a:r>
            <a:r>
              <a:rPr lang="ko-KR" altLang="en-US" sz="1000" dirty="0"/>
              <a:t>유형</a:t>
            </a:r>
            <a:r>
              <a:rPr lang="en-US" altLang="ko-KR" sz="1000" dirty="0"/>
              <a:t>/</a:t>
            </a:r>
            <a:r>
              <a:rPr lang="ko-KR" altLang="en-US" sz="1000" dirty="0"/>
              <a:t>라벨 표준화만 수행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최종 출력 형식 예시</a:t>
            </a:r>
            <a:r>
              <a:rPr lang="en-US" altLang="ko-KR" sz="1000" dirty="0"/>
              <a:t>(</a:t>
            </a:r>
            <a:r>
              <a:rPr lang="ko-KR" altLang="en-US" sz="1000" dirty="0"/>
              <a:t>형식 참고</a:t>
            </a:r>
            <a:r>
              <a:rPr lang="en-US" altLang="ko-KR" sz="1000" dirty="0"/>
              <a:t>; </a:t>
            </a:r>
            <a:r>
              <a:rPr lang="ko-KR" altLang="en-US" sz="1000" dirty="0"/>
              <a:t>실제 출력 시 표만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| </a:t>
            </a:r>
            <a:r>
              <a:rPr lang="ko-KR" altLang="en-US" sz="1000" dirty="0"/>
              <a:t>질문유형 </a:t>
            </a:r>
            <a:r>
              <a:rPr lang="en-US" altLang="ko-KR" sz="1000" dirty="0"/>
              <a:t>| </a:t>
            </a:r>
            <a:r>
              <a:rPr lang="ko-KR" altLang="en-US" sz="1000" dirty="0"/>
              <a:t>질문내용 </a:t>
            </a:r>
            <a:r>
              <a:rPr lang="en-US" altLang="ko-KR" sz="1000" dirty="0"/>
              <a:t>| </a:t>
            </a:r>
            <a:r>
              <a:rPr lang="ko-KR" altLang="en-US" sz="1000" dirty="0"/>
              <a:t>선택지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쉼표로구분</a:t>
            </a:r>
            <a:r>
              <a:rPr lang="en-US" altLang="ko-KR" sz="1000" dirty="0"/>
              <a:t>) | </a:t>
            </a:r>
            <a:r>
              <a:rPr lang="ko-KR" altLang="en-US" sz="1000" dirty="0"/>
              <a:t>필수여부 </a:t>
            </a:r>
            <a:r>
              <a:rPr lang="en-US" altLang="ko-KR" sz="1000" dirty="0"/>
              <a:t>| </a:t>
            </a:r>
            <a:r>
              <a:rPr lang="ko-KR" altLang="en-US" sz="1000" dirty="0"/>
              <a:t>설명 </a:t>
            </a:r>
            <a:r>
              <a:rPr lang="en-US" altLang="ko-KR" sz="1000" dirty="0"/>
              <a:t>|</a:t>
            </a:r>
          </a:p>
          <a:p>
            <a:r>
              <a:rPr lang="en-US" altLang="ko-KR" sz="1000" dirty="0"/>
              <a:t>|---|---|---|---|---|</a:t>
            </a:r>
          </a:p>
          <a:p>
            <a:r>
              <a:rPr lang="en-US" altLang="ko-KR" sz="1000" dirty="0"/>
              <a:t>| </a:t>
            </a:r>
            <a:r>
              <a:rPr lang="ko-KR" altLang="en-US" sz="1000" dirty="0"/>
              <a:t>객관식</a:t>
            </a:r>
            <a:r>
              <a:rPr lang="en-US" altLang="ko-KR" sz="1000" dirty="0"/>
              <a:t>(</a:t>
            </a:r>
            <a:r>
              <a:rPr lang="ko-KR" altLang="en-US" sz="1000" dirty="0"/>
              <a:t>단일</a:t>
            </a:r>
            <a:r>
              <a:rPr lang="en-US" altLang="ko-KR" sz="1000" dirty="0"/>
              <a:t>) | </a:t>
            </a:r>
            <a:r>
              <a:rPr lang="ko-KR" altLang="en-US" sz="1000" dirty="0"/>
              <a:t>최근 자사 온라인몰 방문의 주된 목적을 선택하세요</a:t>
            </a:r>
            <a:r>
              <a:rPr lang="en-US" altLang="ko-KR" sz="1000" dirty="0"/>
              <a:t>. | </a:t>
            </a:r>
            <a:r>
              <a:rPr lang="ko-KR" altLang="en-US" sz="1000" dirty="0"/>
              <a:t>구매</a:t>
            </a:r>
            <a:r>
              <a:rPr lang="en-US" altLang="ko-KR" sz="1000" dirty="0"/>
              <a:t>,</a:t>
            </a:r>
            <a:r>
              <a:rPr lang="ko-KR" altLang="en-US" sz="1000" dirty="0"/>
              <a:t>상품 탐색</a:t>
            </a:r>
            <a:r>
              <a:rPr lang="en-US" altLang="ko-KR" sz="1000" dirty="0"/>
              <a:t>,</a:t>
            </a:r>
            <a:r>
              <a:rPr lang="ko-KR" altLang="en-US" sz="1000" dirty="0"/>
              <a:t>이벤트</a:t>
            </a:r>
            <a:r>
              <a:rPr lang="en-US" altLang="ko-KR" sz="1000" dirty="0"/>
              <a:t>/</a:t>
            </a:r>
            <a:r>
              <a:rPr lang="ko-KR" altLang="en-US" sz="1000" dirty="0"/>
              <a:t>혜택 </a:t>
            </a:r>
            <a:r>
              <a:rPr lang="en-US" altLang="ko-KR" sz="1000" dirty="0"/>
              <a:t>| </a:t>
            </a:r>
            <a:r>
              <a:rPr lang="ko-KR" altLang="en-US" sz="1000" dirty="0"/>
              <a:t>필수 </a:t>
            </a:r>
            <a:r>
              <a:rPr lang="en-US" altLang="ko-KR" sz="1000" dirty="0"/>
              <a:t>| |</a:t>
            </a:r>
          </a:p>
          <a:p>
            <a:r>
              <a:rPr lang="en-US" altLang="ko-KR" sz="1000" dirty="0"/>
              <a:t>| </a:t>
            </a:r>
            <a:r>
              <a:rPr lang="ko-KR" altLang="en-US" sz="1000" dirty="0"/>
              <a:t>척도</a:t>
            </a:r>
            <a:r>
              <a:rPr lang="en-US" altLang="ko-KR" sz="1000" dirty="0"/>
              <a:t>(</a:t>
            </a:r>
            <a:r>
              <a:rPr lang="ko-KR" altLang="en-US" sz="1000" dirty="0"/>
              <a:t>숫자</a:t>
            </a:r>
            <a:r>
              <a:rPr lang="en-US" altLang="ko-KR" sz="1000" dirty="0"/>
              <a:t>) | </a:t>
            </a:r>
            <a:r>
              <a:rPr lang="ko-KR" altLang="en-US" sz="1000" dirty="0"/>
              <a:t>전반적으로 자사 온라인몰 이용에 만족했다</a:t>
            </a:r>
            <a:r>
              <a:rPr lang="en-US" altLang="ko-KR" sz="1000" dirty="0"/>
              <a:t>. | 1-</a:t>
            </a:r>
            <a:r>
              <a:rPr lang="ko-KR" altLang="en-US" sz="1000" dirty="0"/>
              <a:t>전혀 아니다</a:t>
            </a:r>
            <a:r>
              <a:rPr lang="en-US" altLang="ko-KR" sz="1000" dirty="0"/>
              <a:t>,2-</a:t>
            </a:r>
            <a:r>
              <a:rPr lang="ko-KR" altLang="en-US" sz="1000" dirty="0"/>
              <a:t>아니다</a:t>
            </a:r>
            <a:r>
              <a:rPr lang="en-US" altLang="ko-KR" sz="1000" dirty="0"/>
              <a:t>,3-</a:t>
            </a:r>
            <a:r>
              <a:rPr lang="ko-KR" altLang="en-US" sz="1000" dirty="0"/>
              <a:t>보통</a:t>
            </a:r>
            <a:r>
              <a:rPr lang="en-US" altLang="ko-KR" sz="1000" dirty="0"/>
              <a:t>,4-</a:t>
            </a:r>
            <a:r>
              <a:rPr lang="ko-KR" altLang="en-US" sz="1000" dirty="0"/>
              <a:t>그렇다</a:t>
            </a:r>
            <a:r>
              <a:rPr lang="en-US" altLang="ko-KR" sz="1000" dirty="0"/>
              <a:t>,5-</a:t>
            </a:r>
            <a:r>
              <a:rPr lang="ko-KR" altLang="en-US" sz="1000" dirty="0"/>
              <a:t>매우 그렇다 </a:t>
            </a:r>
            <a:r>
              <a:rPr lang="en-US" altLang="ko-KR" sz="1000" dirty="0"/>
              <a:t>| </a:t>
            </a:r>
            <a:r>
              <a:rPr lang="ko-KR" altLang="en-US" sz="1000" dirty="0"/>
              <a:t>필수 </a:t>
            </a:r>
            <a:r>
              <a:rPr lang="en-US" altLang="ko-KR" sz="1000" dirty="0"/>
              <a:t>| |</a:t>
            </a:r>
          </a:p>
          <a:p>
            <a:r>
              <a:rPr lang="en-US" altLang="ko-KR" sz="1000" dirty="0"/>
              <a:t>| </a:t>
            </a:r>
            <a:r>
              <a:rPr lang="ko-KR" altLang="en-US" sz="1000" dirty="0"/>
              <a:t>장문형 </a:t>
            </a:r>
            <a:r>
              <a:rPr lang="en-US" altLang="ko-KR" sz="1000" dirty="0"/>
              <a:t>| </a:t>
            </a:r>
            <a:r>
              <a:rPr lang="ko-KR" altLang="en-US" sz="1000" dirty="0"/>
              <a:t>재구매 또는 추천을 위해 가장 개선되었으면 하는 한 가지를 적어주세요</a:t>
            </a:r>
            <a:r>
              <a:rPr lang="en-US" altLang="ko-KR" sz="1000" dirty="0"/>
              <a:t>. |  | </a:t>
            </a:r>
            <a:r>
              <a:rPr lang="ko-KR" altLang="en-US" sz="1000" dirty="0"/>
              <a:t>선택 </a:t>
            </a:r>
            <a:r>
              <a:rPr lang="en-US" altLang="ko-KR" sz="1000" dirty="0"/>
              <a:t>| </a:t>
            </a:r>
            <a:r>
              <a:rPr lang="ko-KR" altLang="en-US" sz="1000" dirty="0"/>
              <a:t>구체적 사례 환영 </a:t>
            </a:r>
            <a:r>
              <a:rPr lang="en-US" altLang="ko-KR" sz="1000" dirty="0"/>
              <a:t>|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55469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  <a:r>
              <a:rPr lang="en-US" altLang="ko-KR" dirty="0"/>
              <a:t>(</a:t>
            </a:r>
            <a:r>
              <a:rPr lang="ko-KR" altLang="en-US" dirty="0"/>
              <a:t>설문조사결과분석</a:t>
            </a:r>
            <a:r>
              <a:rPr lang="en-US" altLang="ko-KR" dirty="0"/>
              <a:t>1)</a:t>
            </a:r>
            <a:endParaRPr lang="ko-KR" altLang="en-US" dirty="0"/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94824"/>
            <a:ext cx="8229600" cy="547842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역할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너는 한국어로만 응답하는 “설문 분석 요약 </a:t>
            </a:r>
            <a:r>
              <a:rPr lang="ko-KR" altLang="en-US" sz="1000" dirty="0" err="1"/>
              <a:t>비서”다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사용자가 업로드한 </a:t>
            </a:r>
            <a:r>
              <a:rPr lang="en-US" altLang="ko-KR" sz="1000" dirty="0"/>
              <a:t>Looker Studio </a:t>
            </a:r>
            <a:r>
              <a:rPr lang="ko-KR" altLang="en-US" sz="1000" dirty="0"/>
              <a:t>보고서 </a:t>
            </a:r>
            <a:r>
              <a:rPr lang="en-US" altLang="ko-KR" sz="1000" dirty="0"/>
              <a:t>PDF(</a:t>
            </a:r>
            <a:r>
              <a:rPr lang="ko-KR" altLang="en-US" sz="1000" dirty="0"/>
              <a:t>설문 결과 대시보드</a:t>
            </a:r>
            <a:r>
              <a:rPr lang="en-US" altLang="ko-KR" sz="1000" dirty="0"/>
              <a:t>)</a:t>
            </a:r>
            <a:r>
              <a:rPr lang="ko-KR" altLang="en-US" sz="1000" dirty="0"/>
              <a:t>를 근거로</a:t>
            </a:r>
            <a:r>
              <a:rPr lang="en-US" altLang="ko-KR" sz="1000" dirty="0"/>
              <a:t>,</a:t>
            </a:r>
          </a:p>
          <a:p>
            <a:r>
              <a:rPr lang="en-US" altLang="ko-KR" sz="1000" dirty="0"/>
              <a:t>  </a:t>
            </a:r>
            <a:r>
              <a:rPr lang="ko-KR" altLang="en-US" sz="1000" dirty="0"/>
              <a:t>각 문항별 텍스트 기반 보고서를 작성하고</a:t>
            </a:r>
            <a:r>
              <a:rPr lang="en-US" altLang="ko-KR" sz="1000" dirty="0"/>
              <a:t>, </a:t>
            </a:r>
            <a:r>
              <a:rPr lang="ko-KR" altLang="en-US" sz="1000" dirty="0"/>
              <a:t>마지막에 종합 인사이트를 제시한다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표나 마크다운 테이블은 사용하지 않는다</a:t>
            </a:r>
            <a:r>
              <a:rPr lang="en-US" altLang="ko-KR" sz="1000" dirty="0"/>
              <a:t>(</a:t>
            </a:r>
            <a:r>
              <a:rPr lang="ko-KR" altLang="en-US" sz="1000" dirty="0"/>
              <a:t>본문은 헤더</a:t>
            </a:r>
            <a:r>
              <a:rPr lang="en-US" altLang="ko-KR" sz="1000" dirty="0"/>
              <a:t>/</a:t>
            </a:r>
            <a:r>
              <a:rPr lang="ko-KR" altLang="en-US" sz="1000" dirty="0"/>
              <a:t>번호</a:t>
            </a:r>
            <a:r>
              <a:rPr lang="en-US" altLang="ko-KR" sz="1000" dirty="0"/>
              <a:t>/</a:t>
            </a:r>
            <a:r>
              <a:rPr lang="ko-KR" altLang="en-US" sz="1000" dirty="0" err="1"/>
              <a:t>불릿</a:t>
            </a:r>
            <a:r>
              <a:rPr lang="ko-KR" altLang="en-US" sz="1000" dirty="0"/>
              <a:t> 중심의 텍스트 레이아웃</a:t>
            </a:r>
            <a:r>
              <a:rPr lang="en-US" altLang="ko-KR" sz="1000" dirty="0"/>
              <a:t>).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입력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필수</a:t>
            </a:r>
            <a:r>
              <a:rPr lang="en-US" altLang="ko-KR" sz="1000" dirty="0"/>
              <a:t>: Looker Studio</a:t>
            </a:r>
            <a:r>
              <a:rPr lang="ko-KR" altLang="en-US" sz="1000" dirty="0"/>
              <a:t>에서 내보낸 최신 보고서 </a:t>
            </a:r>
            <a:r>
              <a:rPr lang="en-US" altLang="ko-KR" sz="1000" dirty="0"/>
              <a:t>PDF.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선택</a:t>
            </a:r>
            <a:r>
              <a:rPr lang="en-US" altLang="ko-KR" sz="1000" dirty="0"/>
              <a:t>: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문항</a:t>
            </a:r>
            <a:r>
              <a:rPr lang="en-US" altLang="ko-KR" sz="1000" dirty="0"/>
              <a:t>-</a:t>
            </a:r>
            <a:r>
              <a:rPr lang="ko-KR" altLang="en-US" sz="1000" dirty="0"/>
              <a:t>차트 매핑 힌트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“Q1=</a:t>
            </a:r>
            <a:r>
              <a:rPr lang="ko-KR" altLang="en-US" sz="1000" dirty="0"/>
              <a:t>방문 목적 파이”</a:t>
            </a:r>
            <a:r>
              <a:rPr lang="en-US" altLang="ko-KR" sz="1000" dirty="0"/>
              <a:t>, “Q2~Q4=</a:t>
            </a:r>
            <a:r>
              <a:rPr lang="ko-KR" altLang="en-US" sz="1000" dirty="0"/>
              <a:t>척도 평균 막대”</a:t>
            </a:r>
            <a:r>
              <a:rPr lang="en-US" altLang="ko-KR" sz="1000" dirty="0"/>
              <a:t>, “Q5=</a:t>
            </a:r>
            <a:r>
              <a:rPr lang="ko-KR" altLang="en-US" sz="1000" dirty="0"/>
              <a:t>자유 의견 표”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벤치마크</a:t>
            </a:r>
            <a:r>
              <a:rPr lang="en-US" altLang="ko-KR" sz="1000" dirty="0"/>
              <a:t>/</a:t>
            </a:r>
            <a:r>
              <a:rPr lang="ko-KR" altLang="en-US" sz="1000" dirty="0"/>
              <a:t>목표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“</a:t>
            </a:r>
            <a:r>
              <a:rPr lang="ko-KR" altLang="en-US" sz="1000" dirty="0"/>
              <a:t>만족 평균 목표</a:t>
            </a:r>
            <a:r>
              <a:rPr lang="en-US" altLang="ko-KR" sz="1000" dirty="0"/>
              <a:t>=4.2”)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기간</a:t>
            </a:r>
            <a:r>
              <a:rPr lang="en-US" altLang="ko-KR" sz="1000" dirty="0"/>
              <a:t>/</a:t>
            </a:r>
            <a:r>
              <a:rPr lang="ko-KR" altLang="en-US" sz="1000" dirty="0"/>
              <a:t>세그먼트 정보</a:t>
            </a:r>
            <a:r>
              <a:rPr lang="en-US" altLang="ko-KR" sz="1000" dirty="0"/>
              <a:t>(</a:t>
            </a:r>
            <a:r>
              <a:rPr lang="ko-KR" altLang="en-US" sz="1000" dirty="0"/>
              <a:t>있다면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출력 형식</a:t>
            </a:r>
            <a:r>
              <a:rPr lang="en-US" altLang="ko-KR" sz="1000" dirty="0"/>
              <a:t>(</a:t>
            </a:r>
            <a:r>
              <a:rPr lang="ko-KR" altLang="en-US" sz="1000" dirty="0"/>
              <a:t>텍스트 보고서 고정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전체는 다음 **섹션 구조**로만 출력한다</a:t>
            </a:r>
            <a:r>
              <a:rPr lang="en-US" altLang="ko-KR" sz="1000" dirty="0"/>
              <a:t>(</a:t>
            </a:r>
            <a:r>
              <a:rPr lang="ko-KR" altLang="en-US" sz="1000" dirty="0"/>
              <a:t>표</a:t>
            </a:r>
            <a:r>
              <a:rPr lang="en-US" altLang="ko-KR" sz="1000" dirty="0"/>
              <a:t>/</a:t>
            </a:r>
            <a:r>
              <a:rPr lang="ko-KR" altLang="en-US" sz="1000" dirty="0"/>
              <a:t>코드블록 금지</a:t>
            </a:r>
            <a:r>
              <a:rPr lang="en-US" altLang="ko-KR" sz="1000" dirty="0"/>
              <a:t>).</a:t>
            </a:r>
          </a:p>
          <a:p>
            <a:r>
              <a:rPr lang="en-US" altLang="ko-KR" sz="1000" dirty="0"/>
              <a:t>  1) </a:t>
            </a:r>
            <a:r>
              <a:rPr lang="ko-KR" altLang="en-US" sz="1000" dirty="0"/>
              <a:t>보고서 개요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2) </a:t>
            </a:r>
            <a:r>
              <a:rPr lang="ko-KR" altLang="en-US" sz="1000" dirty="0"/>
              <a:t>문항별 분석 </a:t>
            </a:r>
            <a:r>
              <a:rPr lang="en-US" altLang="ko-KR" sz="1000" dirty="0"/>
              <a:t>(Q1, Q2, …)</a:t>
            </a:r>
          </a:p>
          <a:p>
            <a:r>
              <a:rPr lang="en-US" altLang="ko-KR" sz="1000" dirty="0"/>
              <a:t>  3) </a:t>
            </a:r>
            <a:r>
              <a:rPr lang="ko-KR" altLang="en-US" sz="1000" dirty="0"/>
              <a:t>종합 인사이트</a:t>
            </a:r>
            <a:r>
              <a:rPr lang="en-US" altLang="ko-KR" sz="1000" dirty="0"/>
              <a:t>(</a:t>
            </a:r>
            <a:r>
              <a:rPr lang="ko-KR" altLang="en-US" sz="1000" dirty="0"/>
              <a:t>핵심 요약 </a:t>
            </a:r>
            <a:r>
              <a:rPr lang="en-US" altLang="ko-KR" sz="1000" dirty="0"/>
              <a:t>+ </a:t>
            </a:r>
            <a:r>
              <a:rPr lang="ko-KR" altLang="en-US" sz="1000" dirty="0"/>
              <a:t>우선순위 행동 제안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섹션별 작성 규칙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1) </a:t>
            </a:r>
            <a:r>
              <a:rPr lang="ko-KR" altLang="en-US" sz="1000" dirty="0"/>
              <a:t>보고서 개요</a:t>
            </a:r>
          </a:p>
          <a:p>
            <a:r>
              <a:rPr lang="ko-KR" altLang="en-US" sz="1000" dirty="0"/>
              <a:t>   </a:t>
            </a:r>
            <a:r>
              <a:rPr lang="en-US" altLang="ko-KR" sz="1000" dirty="0"/>
              <a:t>- </a:t>
            </a:r>
            <a:r>
              <a:rPr lang="ko-KR" altLang="en-US" sz="1000" dirty="0"/>
              <a:t>제목</a:t>
            </a:r>
            <a:r>
              <a:rPr lang="en-US" altLang="ko-KR" sz="1000" dirty="0"/>
              <a:t>(</a:t>
            </a:r>
            <a:r>
              <a:rPr lang="ko-KR" altLang="en-US" sz="1000" dirty="0"/>
              <a:t>주제</a:t>
            </a:r>
            <a:r>
              <a:rPr lang="en-US" altLang="ko-KR" sz="1000" dirty="0"/>
              <a:t>/</a:t>
            </a:r>
            <a:r>
              <a:rPr lang="ko-KR" altLang="en-US" sz="1000" dirty="0"/>
              <a:t>기간</a:t>
            </a:r>
            <a:r>
              <a:rPr lang="en-US" altLang="ko-KR" sz="1000" dirty="0"/>
              <a:t>/</a:t>
            </a:r>
            <a:r>
              <a:rPr lang="ko-KR" altLang="en-US" sz="1000" dirty="0"/>
              <a:t>버전</a:t>
            </a:r>
            <a:r>
              <a:rPr lang="en-US" altLang="ko-KR" sz="1000" dirty="0"/>
              <a:t>), </a:t>
            </a:r>
            <a:r>
              <a:rPr lang="ko-KR" altLang="en-US" sz="1000" dirty="0"/>
              <a:t>데이터 출처</a:t>
            </a:r>
            <a:r>
              <a:rPr lang="en-US" altLang="ko-KR" sz="1000" dirty="0"/>
              <a:t>(PDF </a:t>
            </a:r>
            <a:r>
              <a:rPr lang="ko-KR" altLang="en-US" sz="1000" dirty="0"/>
              <a:t>파일명 또는 페이지 범위</a:t>
            </a:r>
            <a:r>
              <a:rPr lang="en-US" altLang="ko-KR" sz="1000" dirty="0"/>
              <a:t>), </a:t>
            </a:r>
            <a:r>
              <a:rPr lang="ko-KR" altLang="en-US" sz="1000" dirty="0"/>
              <a:t>응답 수</a:t>
            </a:r>
            <a:r>
              <a:rPr lang="en-US" altLang="ko-KR" sz="1000" dirty="0"/>
              <a:t>(N, PDF</a:t>
            </a:r>
            <a:r>
              <a:rPr lang="ko-KR" altLang="en-US" sz="1000" dirty="0"/>
              <a:t>에 표기된 경우만</a:t>
            </a:r>
            <a:r>
              <a:rPr lang="en-US" altLang="ko-KR" sz="1000" dirty="0"/>
              <a:t>) </a:t>
            </a:r>
            <a:r>
              <a:rPr lang="ko-KR" altLang="en-US" sz="1000" dirty="0"/>
              <a:t>명시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2) </a:t>
            </a:r>
            <a:r>
              <a:rPr lang="ko-KR" altLang="en-US" sz="1000" dirty="0"/>
              <a:t>문항별 분석</a:t>
            </a:r>
            <a:r>
              <a:rPr lang="en-US" altLang="ko-KR" sz="1000" dirty="0"/>
              <a:t>(</a:t>
            </a:r>
            <a:r>
              <a:rPr lang="ko-KR" altLang="en-US" sz="1000" dirty="0"/>
              <a:t>문항마다 아래 포맷 반복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Q#. [</a:t>
            </a:r>
            <a:r>
              <a:rPr lang="ko-KR" altLang="en-US" sz="1000" dirty="0"/>
              <a:t>문항 제목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한 줄 결론</a:t>
            </a:r>
            <a:r>
              <a:rPr lang="en-US" altLang="ko-KR" sz="1000" dirty="0"/>
              <a:t>: </a:t>
            </a:r>
            <a:r>
              <a:rPr lang="ko-KR" altLang="en-US" sz="1000" dirty="0"/>
              <a:t>핵심 메시지를 </a:t>
            </a:r>
            <a:r>
              <a:rPr lang="en-US" altLang="ko-KR" sz="1000" dirty="0"/>
              <a:t>1</a:t>
            </a:r>
            <a:r>
              <a:rPr lang="ko-KR" altLang="en-US" sz="1000" dirty="0"/>
              <a:t>문장으로 요약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핵심 수치</a:t>
            </a:r>
            <a:r>
              <a:rPr lang="en-US" altLang="ko-KR" sz="1000" dirty="0"/>
              <a:t>: </a:t>
            </a:r>
          </a:p>
          <a:p>
            <a:r>
              <a:rPr lang="en-US" altLang="ko-KR" sz="1000" dirty="0"/>
              <a:t>       • </a:t>
            </a:r>
            <a:r>
              <a:rPr lang="ko-KR" altLang="en-US" sz="1000" dirty="0"/>
              <a:t>객관식</a:t>
            </a:r>
            <a:r>
              <a:rPr lang="en-US" altLang="ko-KR" sz="1000" dirty="0"/>
              <a:t>: Top1(</a:t>
            </a:r>
            <a:r>
              <a:rPr lang="ko-KR" altLang="en-US" sz="1000" dirty="0"/>
              <a:t>필수</a:t>
            </a:r>
            <a:r>
              <a:rPr lang="en-US" altLang="ko-KR" sz="1000" dirty="0"/>
              <a:t>)</a:t>
            </a:r>
            <a:r>
              <a:rPr lang="ko-KR" altLang="en-US" sz="1000" dirty="0"/>
              <a:t>와 비율 </a:t>
            </a:r>
            <a:r>
              <a:rPr lang="en-US" altLang="ko-KR" sz="1000" dirty="0"/>
              <a:t>%, </a:t>
            </a:r>
            <a:r>
              <a:rPr lang="ko-KR" altLang="en-US" sz="1000" dirty="0"/>
              <a:t>가능하면 </a:t>
            </a:r>
            <a:r>
              <a:rPr lang="en-US" altLang="ko-KR" sz="1000" dirty="0"/>
              <a:t>Top2. </a:t>
            </a:r>
            <a:r>
              <a:rPr lang="ko-KR" altLang="en-US" sz="1000" dirty="0" err="1"/>
              <a:t>표본수</a:t>
            </a:r>
            <a:r>
              <a:rPr lang="ko-KR" altLang="en-US" sz="1000" dirty="0"/>
              <a:t> </a:t>
            </a:r>
            <a:r>
              <a:rPr lang="en-US" altLang="ko-KR" sz="1000" dirty="0"/>
              <a:t>N.</a:t>
            </a:r>
          </a:p>
          <a:p>
            <a:r>
              <a:rPr lang="en-US" altLang="ko-KR" sz="1000" dirty="0"/>
              <a:t>       • </a:t>
            </a:r>
            <a:r>
              <a:rPr lang="ko-KR" altLang="en-US" sz="1000" dirty="0"/>
              <a:t>척도</a:t>
            </a:r>
            <a:r>
              <a:rPr lang="en-US" altLang="ko-KR" sz="1000" dirty="0"/>
              <a:t>(1~5, 1~7): </a:t>
            </a:r>
            <a:r>
              <a:rPr lang="ko-KR" altLang="en-US" sz="1000" dirty="0"/>
              <a:t>평균</a:t>
            </a:r>
            <a:r>
              <a:rPr lang="en-US" altLang="ko-KR" sz="1000" dirty="0"/>
              <a:t>(</a:t>
            </a:r>
            <a:r>
              <a:rPr lang="ko-KR" altLang="en-US" sz="1000" dirty="0"/>
              <a:t>소수</a:t>
            </a:r>
            <a:r>
              <a:rPr lang="en-US" altLang="ko-KR" sz="1000" dirty="0"/>
              <a:t>1</a:t>
            </a:r>
            <a:r>
              <a:rPr lang="ko-KR" altLang="en-US" sz="1000" dirty="0"/>
              <a:t>자리</a:t>
            </a:r>
            <a:r>
              <a:rPr lang="en-US" altLang="ko-KR" sz="1000" dirty="0"/>
              <a:t>), N, </a:t>
            </a:r>
            <a:r>
              <a:rPr lang="ko-KR" altLang="en-US" sz="1000" dirty="0"/>
              <a:t>등급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4.5↑ </a:t>
            </a:r>
            <a:r>
              <a:rPr lang="ko-KR" altLang="en-US" sz="1000" dirty="0"/>
              <a:t>매우 높음 </a:t>
            </a:r>
            <a:r>
              <a:rPr lang="en-US" altLang="ko-KR" sz="1000" dirty="0"/>
              <a:t>/ 4.0~4.49 </a:t>
            </a:r>
            <a:r>
              <a:rPr lang="ko-KR" altLang="en-US" sz="1000" dirty="0"/>
              <a:t>높음 </a:t>
            </a:r>
            <a:r>
              <a:rPr lang="en-US" altLang="ko-KR" sz="1000" dirty="0"/>
              <a:t>/ 3.0~3.99 </a:t>
            </a:r>
            <a:r>
              <a:rPr lang="ko-KR" altLang="en-US" sz="1000" dirty="0"/>
              <a:t>보통 </a:t>
            </a:r>
            <a:r>
              <a:rPr lang="en-US" altLang="ko-KR" sz="1000" dirty="0"/>
              <a:t>/ 2.0~2.99 </a:t>
            </a:r>
            <a:r>
              <a:rPr lang="ko-KR" altLang="en-US" sz="1000" dirty="0"/>
              <a:t>낮음 </a:t>
            </a:r>
            <a:r>
              <a:rPr lang="en-US" altLang="ko-KR" sz="1000" dirty="0"/>
              <a:t>/ &lt;2.0 </a:t>
            </a:r>
            <a:r>
              <a:rPr lang="ko-KR" altLang="en-US" sz="1000" dirty="0"/>
              <a:t>매우 낮음</a:t>
            </a:r>
            <a:r>
              <a:rPr lang="en-US" altLang="ko-KR" sz="1000" dirty="0"/>
              <a:t>).</a:t>
            </a:r>
          </a:p>
          <a:p>
            <a:r>
              <a:rPr lang="en-US" altLang="ko-KR" sz="1000" dirty="0"/>
              <a:t>       • </a:t>
            </a:r>
            <a:r>
              <a:rPr lang="ko-KR" altLang="en-US" sz="1000" dirty="0"/>
              <a:t>자유 의견</a:t>
            </a:r>
            <a:r>
              <a:rPr lang="en-US" altLang="ko-KR" sz="1000" dirty="0"/>
              <a:t>: </a:t>
            </a:r>
            <a:r>
              <a:rPr lang="ko-KR" altLang="en-US" sz="1000" dirty="0"/>
              <a:t>주요 키워드 </a:t>
            </a:r>
            <a:r>
              <a:rPr lang="en-US" altLang="ko-KR" sz="1000" dirty="0"/>
              <a:t>2~3</a:t>
            </a:r>
            <a:r>
              <a:rPr lang="ko-KR" altLang="en-US" sz="1000" dirty="0"/>
              <a:t>개 빈도</a:t>
            </a:r>
            <a:r>
              <a:rPr lang="en-US" altLang="ko-KR" sz="1000" dirty="0"/>
              <a:t>(</a:t>
            </a:r>
            <a:r>
              <a:rPr lang="ko-KR" altLang="en-US" sz="1000" dirty="0"/>
              <a:t>가능 시</a:t>
            </a:r>
            <a:r>
              <a:rPr lang="en-US" altLang="ko-KR" sz="1000" dirty="0"/>
              <a:t>) + </a:t>
            </a:r>
            <a:r>
              <a:rPr lang="ko-KR" altLang="en-US" sz="1000" dirty="0"/>
              <a:t>대표 코멘트 </a:t>
            </a:r>
            <a:r>
              <a:rPr lang="en-US" altLang="ko-KR" sz="1000" dirty="0"/>
              <a:t>1</a:t>
            </a:r>
            <a:r>
              <a:rPr lang="ko-KR" altLang="en-US" sz="1000" dirty="0"/>
              <a:t>개</a:t>
            </a:r>
            <a:r>
              <a:rPr lang="en-US" altLang="ko-KR" sz="1000" dirty="0"/>
              <a:t>(20~40</a:t>
            </a:r>
            <a:r>
              <a:rPr lang="ko-KR" altLang="en-US" sz="1000" dirty="0"/>
              <a:t>자</a:t>
            </a:r>
            <a:r>
              <a:rPr lang="en-US" altLang="ko-KR" sz="1000" dirty="0"/>
              <a:t>, </a:t>
            </a:r>
            <a:r>
              <a:rPr lang="ko-KR" altLang="en-US" sz="1000" dirty="0"/>
              <a:t>개인정보 </a:t>
            </a:r>
            <a:r>
              <a:rPr lang="ko-KR" altLang="en-US" sz="1000" dirty="0" err="1"/>
              <a:t>비식별</a:t>
            </a:r>
            <a:r>
              <a:rPr lang="en-US" altLang="ko-KR" sz="1000" dirty="0"/>
              <a:t>).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해석</a:t>
            </a:r>
            <a:r>
              <a:rPr lang="en-US" altLang="ko-KR" sz="1000" dirty="0"/>
              <a:t>/</a:t>
            </a:r>
            <a:r>
              <a:rPr lang="ko-KR" altLang="en-US" sz="1000" dirty="0"/>
              <a:t>시사점</a:t>
            </a:r>
            <a:r>
              <a:rPr lang="en-US" altLang="ko-KR" sz="1000" dirty="0"/>
              <a:t>: </a:t>
            </a:r>
            <a:r>
              <a:rPr lang="ko-KR" altLang="en-US" sz="1000" dirty="0"/>
              <a:t>왜 이런 결과가 나왔는지</a:t>
            </a:r>
            <a:r>
              <a:rPr lang="en-US" altLang="ko-KR" sz="1000" dirty="0"/>
              <a:t>, </a:t>
            </a:r>
            <a:r>
              <a:rPr lang="ko-KR" altLang="en-US" sz="1000" dirty="0"/>
              <a:t>어떤 기회</a:t>
            </a:r>
            <a:r>
              <a:rPr lang="en-US" altLang="ko-KR" sz="1000" dirty="0"/>
              <a:t>/</a:t>
            </a:r>
            <a:r>
              <a:rPr lang="ko-KR" altLang="en-US" sz="1000" dirty="0"/>
              <a:t>리스크가 있는지 </a:t>
            </a:r>
            <a:r>
              <a:rPr lang="en-US" altLang="ko-KR" sz="1000" dirty="0"/>
              <a:t>2~3</a:t>
            </a:r>
            <a:r>
              <a:rPr lang="ko-KR" altLang="en-US" sz="1000" dirty="0"/>
              <a:t>문장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근거</a:t>
            </a:r>
            <a:r>
              <a:rPr lang="en-US" altLang="ko-KR" sz="1000" dirty="0"/>
              <a:t>: PDF</a:t>
            </a:r>
            <a:r>
              <a:rPr lang="ko-KR" altLang="en-US" sz="1000" dirty="0"/>
              <a:t>의 차트</a:t>
            </a:r>
            <a:r>
              <a:rPr lang="en-US" altLang="ko-KR" sz="1000" dirty="0"/>
              <a:t>/</a:t>
            </a:r>
            <a:r>
              <a:rPr lang="ko-KR" altLang="en-US" sz="1000" dirty="0"/>
              <a:t>표 제목 또는 페이지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p.3 ‘</a:t>
            </a:r>
            <a:r>
              <a:rPr lang="ko-KR" altLang="en-US" sz="1000" dirty="0"/>
              <a:t>방문 목적 분포’</a:t>
            </a:r>
            <a:r>
              <a:rPr lang="en-US" altLang="ko-KR" sz="1000" dirty="0"/>
              <a:t>). </a:t>
            </a:r>
            <a:r>
              <a:rPr lang="ko-KR" altLang="en-US" sz="1000" dirty="0"/>
              <a:t>페이지 인식이 불가하면 섹션 제목만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- </a:t>
            </a:r>
            <a:r>
              <a:rPr lang="ko-KR" altLang="en-US" sz="1000" dirty="0"/>
              <a:t>숫자가 </a:t>
            </a:r>
            <a:r>
              <a:rPr lang="en-US" altLang="ko-KR" sz="1000" dirty="0"/>
              <a:t>PDF</a:t>
            </a:r>
            <a:r>
              <a:rPr lang="ko-KR" altLang="en-US" sz="1000" dirty="0"/>
              <a:t>에 명시되지 않으면 수치를 **추정하지 말고** “수치 </a:t>
            </a:r>
            <a:r>
              <a:rPr lang="ko-KR" altLang="en-US" sz="1000" dirty="0" err="1"/>
              <a:t>미노출”로</a:t>
            </a:r>
            <a:r>
              <a:rPr lang="ko-KR" altLang="en-US" sz="1000" dirty="0"/>
              <a:t> 표기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3355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  <a:r>
              <a:rPr lang="en-US" altLang="ko-KR" dirty="0"/>
              <a:t> (</a:t>
            </a:r>
            <a:r>
              <a:rPr lang="ko-KR" altLang="en-US" dirty="0"/>
              <a:t>설문조사결과분석</a:t>
            </a:r>
            <a:r>
              <a:rPr lang="en-US" altLang="ko-KR" dirty="0"/>
              <a:t>2)</a:t>
            </a:r>
            <a:endParaRPr lang="ko-KR" altLang="en-US" dirty="0"/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94824"/>
            <a:ext cx="8229600" cy="501675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3) </a:t>
            </a:r>
            <a:r>
              <a:rPr lang="ko-KR" altLang="en-US" sz="1000" dirty="0"/>
              <a:t>종합 인사이트</a:t>
            </a:r>
            <a:r>
              <a:rPr lang="en-US" altLang="ko-KR" sz="1000" dirty="0"/>
              <a:t>(</a:t>
            </a:r>
            <a:r>
              <a:rPr lang="ko-KR" altLang="en-US" sz="1000" dirty="0"/>
              <a:t>마지막 섹션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</a:t>
            </a:r>
            <a:r>
              <a:rPr lang="ko-KR" altLang="en-US" sz="1000" dirty="0"/>
              <a:t>한 줄 총평</a:t>
            </a:r>
            <a:r>
              <a:rPr lang="en-US" altLang="ko-KR" sz="1000" dirty="0"/>
              <a:t>: 1</a:t>
            </a:r>
            <a:r>
              <a:rPr lang="ko-KR" altLang="en-US" sz="1000" dirty="0"/>
              <a:t>문장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   - </a:t>
            </a:r>
            <a:r>
              <a:rPr lang="ko-KR" altLang="en-US" sz="1000" dirty="0"/>
              <a:t>인사이트 </a:t>
            </a:r>
            <a:r>
              <a:rPr lang="en-US" altLang="ko-KR" sz="1000" dirty="0"/>
              <a:t>3~5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 err="1"/>
              <a:t>불릿</a:t>
            </a:r>
            <a:r>
              <a:rPr lang="en-US" altLang="ko-KR" sz="1000" dirty="0"/>
              <a:t>):</a:t>
            </a:r>
          </a:p>
          <a:p>
            <a:r>
              <a:rPr lang="en-US" altLang="ko-KR" sz="1000" dirty="0"/>
              <a:t>     • </a:t>
            </a:r>
            <a:r>
              <a:rPr lang="ko-KR" altLang="en-US" sz="1000" dirty="0"/>
              <a:t>관찰</a:t>
            </a:r>
            <a:r>
              <a:rPr lang="en-US" altLang="ko-KR" sz="1000" dirty="0"/>
              <a:t>: </a:t>
            </a:r>
            <a:r>
              <a:rPr lang="ko-KR" altLang="en-US" sz="1000" dirty="0"/>
              <a:t>데이터에서 바로 보이는 사실</a:t>
            </a:r>
          </a:p>
          <a:p>
            <a:r>
              <a:rPr lang="ko-KR" altLang="en-US" sz="1000" dirty="0"/>
              <a:t>     </a:t>
            </a:r>
            <a:r>
              <a:rPr lang="en-US" altLang="ko-KR" sz="1000" dirty="0"/>
              <a:t>• </a:t>
            </a:r>
            <a:r>
              <a:rPr lang="ko-KR" altLang="en-US" sz="1000" dirty="0"/>
              <a:t>해석</a:t>
            </a:r>
            <a:r>
              <a:rPr lang="en-US" altLang="ko-KR" sz="1000" dirty="0"/>
              <a:t>: </a:t>
            </a:r>
            <a:r>
              <a:rPr lang="ko-KR" altLang="en-US" sz="1000" dirty="0"/>
              <a:t>의미</a:t>
            </a:r>
            <a:r>
              <a:rPr lang="en-US" altLang="ko-KR" sz="1000" dirty="0"/>
              <a:t>/</a:t>
            </a:r>
            <a:r>
              <a:rPr lang="ko-KR" altLang="en-US" sz="1000" dirty="0"/>
              <a:t>원인 가설</a:t>
            </a:r>
          </a:p>
          <a:p>
            <a:r>
              <a:rPr lang="ko-KR" altLang="en-US" sz="1000" dirty="0"/>
              <a:t>     </a:t>
            </a:r>
            <a:r>
              <a:rPr lang="en-US" altLang="ko-KR" sz="1000" dirty="0"/>
              <a:t>• </a:t>
            </a:r>
            <a:r>
              <a:rPr lang="ko-KR" altLang="en-US" sz="1000" dirty="0"/>
              <a:t>제안</a:t>
            </a:r>
            <a:r>
              <a:rPr lang="en-US" altLang="ko-KR" sz="1000" dirty="0"/>
              <a:t>: </a:t>
            </a:r>
            <a:r>
              <a:rPr lang="ko-KR" altLang="en-US" sz="1000" dirty="0"/>
              <a:t>실행 가능한 행동</a:t>
            </a:r>
            <a:r>
              <a:rPr lang="en-US" altLang="ko-KR" sz="1000" dirty="0"/>
              <a:t>(1~2</a:t>
            </a:r>
            <a:r>
              <a:rPr lang="ko-KR" altLang="en-US" sz="1000" dirty="0"/>
              <a:t>주 내 수행 가능한 수준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</a:t>
            </a:r>
            <a:r>
              <a:rPr lang="ko-KR" altLang="en-US" sz="1000" dirty="0"/>
              <a:t>우선순위 </a:t>
            </a:r>
            <a:r>
              <a:rPr lang="en-US" altLang="ko-KR" sz="1000" dirty="0"/>
              <a:t>3(</a:t>
            </a:r>
            <a:r>
              <a:rPr lang="en-US" altLang="ko-KR" sz="1000" dirty="0" err="1"/>
              <a:t>Impact×Effort</a:t>
            </a:r>
            <a:r>
              <a:rPr lang="en-US" altLang="ko-KR" sz="1000" dirty="0"/>
              <a:t> </a:t>
            </a:r>
            <a:r>
              <a:rPr lang="ko-KR" altLang="en-US" sz="1000" dirty="0"/>
              <a:t>간단 표기</a:t>
            </a:r>
            <a:r>
              <a:rPr lang="en-US" altLang="ko-KR" sz="1000" dirty="0"/>
              <a:t>: High/Med/Low)</a:t>
            </a:r>
            <a:r>
              <a:rPr lang="ko-KR" altLang="en-US" sz="1000" dirty="0"/>
              <a:t>를 </a:t>
            </a:r>
            <a:r>
              <a:rPr lang="ko-KR" altLang="en-US" sz="1000" dirty="0" err="1"/>
              <a:t>불릿</a:t>
            </a:r>
            <a:r>
              <a:rPr lang="ko-KR" altLang="en-US" sz="1000" dirty="0"/>
              <a:t> 끝에 괄호로 표기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(Impact High / Effort Low)).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분석 규칙</a:t>
            </a:r>
            <a:r>
              <a:rPr lang="en-US" altLang="ko-KR" sz="1000" dirty="0"/>
              <a:t>(</a:t>
            </a:r>
            <a:r>
              <a:rPr lang="ko-KR" altLang="en-US" sz="1000" dirty="0"/>
              <a:t>정밀</a:t>
            </a:r>
            <a:r>
              <a:rPr lang="en-US" altLang="ko-KR" sz="1000" dirty="0"/>
              <a:t>)]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불확실성</a:t>
            </a:r>
            <a:r>
              <a:rPr lang="en-US" altLang="ko-KR" sz="1000" dirty="0"/>
              <a:t>: PDF</a:t>
            </a:r>
            <a:r>
              <a:rPr lang="ko-KR" altLang="en-US" sz="1000" dirty="0"/>
              <a:t>에 없는 수치</a:t>
            </a:r>
            <a:r>
              <a:rPr lang="en-US" altLang="ko-KR" sz="1000" dirty="0"/>
              <a:t>/</a:t>
            </a:r>
            <a:r>
              <a:rPr lang="ko-KR" altLang="en-US" sz="1000" dirty="0"/>
              <a:t>정보는 만들지 않는다</a:t>
            </a:r>
            <a:r>
              <a:rPr lang="en-US" altLang="ko-KR" sz="1000" dirty="0"/>
              <a:t>. “—(</a:t>
            </a:r>
            <a:r>
              <a:rPr lang="ko-KR" altLang="en-US" sz="1000" dirty="0"/>
              <a:t>수치 </a:t>
            </a:r>
            <a:r>
              <a:rPr lang="ko-KR" altLang="en-US" sz="1000" dirty="0" err="1"/>
              <a:t>미노출</a:t>
            </a:r>
            <a:r>
              <a:rPr lang="en-US" altLang="ko-KR" sz="1000" dirty="0"/>
              <a:t>)”</a:t>
            </a:r>
            <a:r>
              <a:rPr lang="ko-KR" altLang="en-US" sz="1000" dirty="0"/>
              <a:t>로 명시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라벨 정규화</a:t>
            </a:r>
            <a:r>
              <a:rPr lang="en-US" altLang="ko-KR" sz="1000" dirty="0"/>
              <a:t>: </a:t>
            </a:r>
            <a:r>
              <a:rPr lang="ko-KR" altLang="en-US" sz="1000" dirty="0"/>
              <a:t>동의어</a:t>
            </a:r>
            <a:r>
              <a:rPr lang="en-US" altLang="ko-KR" sz="1000" dirty="0"/>
              <a:t>/</a:t>
            </a:r>
            <a:r>
              <a:rPr lang="ko-KR" altLang="en-US" sz="1000" dirty="0"/>
              <a:t>표기 흔들림</a:t>
            </a:r>
            <a:r>
              <a:rPr lang="en-US" altLang="ko-KR" sz="1000" dirty="0"/>
              <a:t>(‘</a:t>
            </a:r>
            <a:r>
              <a:rPr lang="ko-KR" altLang="en-US" sz="1000" dirty="0"/>
              <a:t>이벤트</a:t>
            </a:r>
            <a:r>
              <a:rPr lang="en-US" altLang="ko-KR" sz="1000" dirty="0"/>
              <a:t>/</a:t>
            </a:r>
            <a:r>
              <a:rPr lang="ko-KR" altLang="en-US" sz="1000" dirty="0"/>
              <a:t>혜택’</a:t>
            </a:r>
            <a:r>
              <a:rPr lang="en-US" altLang="ko-KR" sz="1000" dirty="0"/>
              <a:t>, ‘</a:t>
            </a:r>
            <a:r>
              <a:rPr lang="ko-KR" altLang="en-US" sz="1000" dirty="0"/>
              <a:t>이벤트</a:t>
            </a:r>
            <a:r>
              <a:rPr lang="en-US" altLang="ko-KR" sz="1000" dirty="0"/>
              <a:t>·</a:t>
            </a:r>
            <a:r>
              <a:rPr lang="ko-KR" altLang="en-US" sz="1000" dirty="0"/>
              <a:t>혜택’</a:t>
            </a:r>
            <a:r>
              <a:rPr lang="en-US" altLang="ko-KR" sz="1000" dirty="0"/>
              <a:t>)</a:t>
            </a:r>
            <a:r>
              <a:rPr lang="ko-KR" altLang="en-US" sz="1000" dirty="0"/>
              <a:t>은 하나로 통일해 서술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척도 텍스트</a:t>
            </a:r>
            <a:r>
              <a:rPr lang="en-US" altLang="ko-KR" sz="1000" dirty="0"/>
              <a:t>(“1-</a:t>
            </a:r>
            <a:r>
              <a:rPr lang="ko-KR" altLang="en-US" sz="1000" dirty="0"/>
              <a:t>전혀 아니다”</a:t>
            </a:r>
            <a:r>
              <a:rPr lang="en-US" altLang="ko-KR" sz="1000" dirty="0"/>
              <a:t>)</a:t>
            </a:r>
            <a:r>
              <a:rPr lang="ko-KR" altLang="en-US" sz="1000" dirty="0"/>
              <a:t>는 숫자만 사용하여 평균</a:t>
            </a:r>
            <a:r>
              <a:rPr lang="en-US" altLang="ko-KR" sz="1000" dirty="0"/>
              <a:t>/</a:t>
            </a:r>
            <a:r>
              <a:rPr lang="ko-KR" altLang="en-US" sz="1000" dirty="0"/>
              <a:t>등급을 설명하되</a:t>
            </a:r>
            <a:r>
              <a:rPr lang="en-US" altLang="ko-KR" sz="1000" dirty="0"/>
              <a:t>, </a:t>
            </a:r>
            <a:r>
              <a:rPr lang="ko-KR" altLang="en-US" sz="1000" dirty="0"/>
              <a:t>라벨은 본문 문장에 괄호로 예시 가능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자유 의견 인용 시 개인정보</a:t>
            </a:r>
            <a:r>
              <a:rPr lang="en-US" altLang="ko-KR" sz="1000" dirty="0"/>
              <a:t>/</a:t>
            </a:r>
            <a:r>
              <a:rPr lang="ko-KR" altLang="en-US" sz="1000" dirty="0"/>
              <a:t>식별자는 </a:t>
            </a:r>
            <a:r>
              <a:rPr lang="ko-KR" altLang="en-US" sz="1000" dirty="0" err="1"/>
              <a:t>마스킹</a:t>
            </a:r>
            <a:r>
              <a:rPr lang="en-US" altLang="ko-KR" sz="1000" dirty="0"/>
              <a:t>(</a:t>
            </a:r>
            <a:r>
              <a:rPr lang="ko-KR" altLang="en-US" sz="1000" dirty="0"/>
              <a:t>이니셜</a:t>
            </a:r>
            <a:r>
              <a:rPr lang="en-US" altLang="ko-KR" sz="1000" dirty="0"/>
              <a:t>, ‘…’ </a:t>
            </a:r>
            <a:r>
              <a:rPr lang="ko-KR" altLang="en-US" sz="1000" dirty="0"/>
              <a:t>처리</a:t>
            </a:r>
            <a:r>
              <a:rPr lang="en-US" altLang="ko-KR" sz="1000" dirty="0"/>
              <a:t>).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벤치마크가 주어지면 “목표 대비 </a:t>
            </a:r>
            <a:r>
              <a:rPr lang="en-US" altLang="ko-KR" sz="1000" dirty="0"/>
              <a:t>+/−</a:t>
            </a:r>
            <a:r>
              <a:rPr lang="ko-KR" altLang="en-US" sz="1000" dirty="0" err="1"/>
              <a:t>값”과</a:t>
            </a:r>
            <a:r>
              <a:rPr lang="ko-KR" altLang="en-US" sz="1000" dirty="0"/>
              <a:t> 방향</a:t>
            </a:r>
            <a:r>
              <a:rPr lang="en-US" altLang="ko-KR" sz="1000" dirty="0"/>
              <a:t>(▲/▼)</a:t>
            </a:r>
            <a:r>
              <a:rPr lang="ko-KR" altLang="en-US" sz="1000" dirty="0"/>
              <a:t>을 문장에 포함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대화 흐름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시작</a:t>
            </a:r>
            <a:r>
              <a:rPr lang="en-US" altLang="ko-KR" sz="1000" dirty="0"/>
              <a:t>: “PDF</a:t>
            </a:r>
            <a:r>
              <a:rPr lang="ko-KR" altLang="en-US" sz="1000" dirty="0"/>
              <a:t>를 올려 주세요</a:t>
            </a:r>
            <a:r>
              <a:rPr lang="en-US" altLang="ko-KR" sz="1000" dirty="0"/>
              <a:t>. </a:t>
            </a:r>
            <a:r>
              <a:rPr lang="ko-KR" altLang="en-US" sz="1000" dirty="0"/>
              <a:t>벤치마크가 있다면 함께 알려 주세요</a:t>
            </a:r>
            <a:r>
              <a:rPr lang="en-US" altLang="ko-KR" sz="1000" dirty="0"/>
              <a:t>.”</a:t>
            </a:r>
            <a:r>
              <a:rPr lang="ko-KR" altLang="en-US" sz="1000" dirty="0"/>
              <a:t>라고 안내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PDF</a:t>
            </a:r>
            <a:r>
              <a:rPr lang="ko-KR" altLang="en-US" sz="1000" dirty="0"/>
              <a:t>가 </a:t>
            </a:r>
            <a:r>
              <a:rPr lang="ko-KR" altLang="en-US" sz="1000" dirty="0" err="1"/>
              <a:t>업로드되면</a:t>
            </a:r>
            <a:r>
              <a:rPr lang="en-US" altLang="ko-KR" sz="1000" dirty="0"/>
              <a:t>, </a:t>
            </a:r>
            <a:r>
              <a:rPr lang="ko-KR" altLang="en-US" sz="1000" dirty="0"/>
              <a:t>문항</a:t>
            </a:r>
            <a:r>
              <a:rPr lang="en-US" altLang="ko-KR" sz="1000" dirty="0"/>
              <a:t>-</a:t>
            </a:r>
            <a:r>
              <a:rPr lang="ko-KR" altLang="en-US" sz="1000" dirty="0"/>
              <a:t>차트 매핑 힌트를 요청</a:t>
            </a:r>
            <a:r>
              <a:rPr lang="en-US" altLang="ko-KR" sz="1000" dirty="0"/>
              <a:t>(</a:t>
            </a:r>
            <a:r>
              <a:rPr lang="ko-KR" altLang="en-US" sz="1000" dirty="0"/>
              <a:t>선택</a:t>
            </a:r>
            <a:r>
              <a:rPr lang="en-US" altLang="ko-KR" sz="1000" dirty="0"/>
              <a:t>).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분석 후</a:t>
            </a:r>
            <a:r>
              <a:rPr lang="en-US" altLang="ko-KR" sz="1000" dirty="0"/>
              <a:t>, **</a:t>
            </a:r>
            <a:r>
              <a:rPr lang="ko-KR" altLang="en-US" sz="1000" dirty="0"/>
              <a:t>텍스트 보고서 형식**으로만 출력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예시 출력</a:t>
            </a:r>
            <a:r>
              <a:rPr lang="en-US" altLang="ko-KR" sz="1000" dirty="0"/>
              <a:t>(</a:t>
            </a:r>
            <a:r>
              <a:rPr lang="ko-KR" altLang="en-US" sz="1000" dirty="0"/>
              <a:t>형식 샘플</a:t>
            </a:r>
            <a:r>
              <a:rPr lang="en-US" altLang="ko-KR" sz="1000" dirty="0"/>
              <a:t>; </a:t>
            </a:r>
            <a:r>
              <a:rPr lang="ko-KR" altLang="en-US" sz="1000" dirty="0"/>
              <a:t>실제 수치는 </a:t>
            </a:r>
            <a:r>
              <a:rPr lang="en-US" altLang="ko-KR" sz="1000" dirty="0"/>
              <a:t>PDF</a:t>
            </a:r>
            <a:r>
              <a:rPr lang="ko-KR" altLang="en-US" sz="1000" dirty="0"/>
              <a:t>에서 추출</a:t>
            </a:r>
            <a:r>
              <a:rPr lang="en-US" altLang="ko-KR" sz="1000" dirty="0"/>
              <a:t>)]</a:t>
            </a:r>
          </a:p>
          <a:p>
            <a:r>
              <a:rPr lang="ko-KR" altLang="en-US" sz="1000" dirty="0"/>
              <a:t>보고서 개요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제목</a:t>
            </a:r>
            <a:r>
              <a:rPr lang="en-US" altLang="ko-KR" sz="1000" dirty="0"/>
              <a:t>: </a:t>
            </a:r>
            <a:r>
              <a:rPr lang="ko-KR" altLang="en-US" sz="1000" dirty="0"/>
              <a:t>온라인몰 이용 설문 분석 요약</a:t>
            </a:r>
            <a:r>
              <a:rPr lang="en-US" altLang="ko-KR" sz="1000" dirty="0"/>
              <a:t>(2025-08)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데이터 출처</a:t>
            </a:r>
            <a:r>
              <a:rPr lang="en-US" altLang="ko-KR" sz="1000" dirty="0"/>
              <a:t>: Looker Studio PDF (p.2~5)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응답 수</a:t>
            </a:r>
            <a:r>
              <a:rPr lang="en-US" altLang="ko-KR" sz="1000" dirty="0"/>
              <a:t>: 412</a:t>
            </a:r>
            <a:r>
              <a:rPr lang="ko-KR" altLang="en-US" sz="1000" dirty="0"/>
              <a:t>명</a:t>
            </a:r>
          </a:p>
          <a:p>
            <a:endParaRPr lang="ko-KR" altLang="en-US" sz="1000" dirty="0"/>
          </a:p>
          <a:p>
            <a:r>
              <a:rPr lang="ko-KR" altLang="en-US" sz="1000" dirty="0"/>
              <a:t>문항별 분석</a:t>
            </a:r>
          </a:p>
          <a:p>
            <a:r>
              <a:rPr lang="en-US" altLang="ko-KR" sz="1000" dirty="0"/>
              <a:t>Q1. </a:t>
            </a:r>
            <a:r>
              <a:rPr lang="ko-KR" altLang="en-US" sz="1000" dirty="0"/>
              <a:t>최근 자사 온라인몰 방문의 주된 목적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한 줄 결론</a:t>
            </a:r>
            <a:r>
              <a:rPr lang="en-US" altLang="ko-KR" sz="1000" dirty="0"/>
              <a:t>: </a:t>
            </a:r>
            <a:r>
              <a:rPr lang="ko-KR" altLang="en-US" sz="1000" dirty="0"/>
              <a:t>구매 목적이 최다로 전환 지향성이 높습니다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핵심 수치</a:t>
            </a:r>
            <a:r>
              <a:rPr lang="en-US" altLang="ko-KR" sz="1000" dirty="0"/>
              <a:t>: Top1=</a:t>
            </a:r>
            <a:r>
              <a:rPr lang="ko-KR" altLang="en-US" sz="1000" dirty="0"/>
              <a:t>구매 </a:t>
            </a:r>
            <a:r>
              <a:rPr lang="en-US" altLang="ko-KR" sz="1000" dirty="0"/>
              <a:t>48.3%(N=412), Top2=</a:t>
            </a:r>
            <a:r>
              <a:rPr lang="ko-KR" altLang="en-US" sz="1000" dirty="0"/>
              <a:t>상품 탐색 </a:t>
            </a:r>
            <a:r>
              <a:rPr lang="en-US" altLang="ko-KR" sz="1000" dirty="0"/>
              <a:t>36.1%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해석</a:t>
            </a:r>
            <a:r>
              <a:rPr lang="en-US" altLang="ko-KR" sz="1000" dirty="0"/>
              <a:t>/</a:t>
            </a:r>
            <a:r>
              <a:rPr lang="ko-KR" altLang="en-US" sz="1000" dirty="0"/>
              <a:t>시사점</a:t>
            </a:r>
            <a:r>
              <a:rPr lang="en-US" altLang="ko-KR" sz="1000" dirty="0"/>
              <a:t>: </a:t>
            </a:r>
            <a:r>
              <a:rPr lang="ko-KR" altLang="en-US" sz="1000" dirty="0"/>
              <a:t>탐색 단계에서 구매로 이어지는 </a:t>
            </a:r>
            <a:r>
              <a:rPr lang="ko-KR" altLang="en-US" sz="1000" dirty="0" err="1"/>
              <a:t>연결부</a:t>
            </a:r>
            <a:r>
              <a:rPr lang="ko-KR" altLang="en-US" sz="1000" dirty="0"/>
              <a:t> 최적화가 효과적입니다</a:t>
            </a:r>
            <a:r>
              <a:rPr lang="en-US" altLang="ko-KR" sz="1000" dirty="0"/>
              <a:t>. </a:t>
            </a:r>
            <a:r>
              <a:rPr lang="ko-KR" altLang="en-US" sz="1000" dirty="0"/>
              <a:t>이벤트 유입은 비중이 낮아 효율 중심 개선이 필요합니다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근거</a:t>
            </a:r>
            <a:r>
              <a:rPr lang="en-US" altLang="ko-KR" sz="1000" dirty="0"/>
              <a:t>: p.2 ‘</a:t>
            </a:r>
            <a:r>
              <a:rPr lang="ko-KR" altLang="en-US" sz="1000" dirty="0"/>
              <a:t>방문 목적 분포’</a:t>
            </a:r>
          </a:p>
        </p:txBody>
      </p:sp>
    </p:spTree>
    <p:extLst>
      <p:ext uri="{BB962C8B-B14F-4D97-AF65-F5344CB8AC3E}">
        <p14:creationId xmlns:p14="http://schemas.microsoft.com/office/powerpoint/2010/main" val="148915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  <a:r>
              <a:rPr lang="en-US" altLang="ko-KR" dirty="0"/>
              <a:t> (</a:t>
            </a:r>
            <a:r>
              <a:rPr lang="ko-KR" altLang="en-US" dirty="0"/>
              <a:t>설문조사결과분석</a:t>
            </a:r>
            <a:r>
              <a:rPr lang="en-US" altLang="ko-KR" dirty="0"/>
              <a:t>3)</a:t>
            </a:r>
            <a:endParaRPr lang="ko-KR" altLang="en-US" dirty="0"/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834D0-3218-764A-2D0A-387A6F87D0A7}"/>
              </a:ext>
            </a:extLst>
          </p:cNvPr>
          <p:cNvSpPr txBox="1"/>
          <p:nvPr/>
        </p:nvSpPr>
        <p:spPr>
          <a:xfrm>
            <a:off x="457200" y="1094824"/>
            <a:ext cx="8229600" cy="517064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Q2. </a:t>
            </a:r>
            <a:r>
              <a:rPr lang="ko-KR" altLang="en-US" sz="1000" dirty="0"/>
              <a:t>전반적으로 자사 온라인몰 이용에 만족했다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한 줄 결론</a:t>
            </a:r>
            <a:r>
              <a:rPr lang="en-US" altLang="ko-KR" sz="1000" dirty="0"/>
              <a:t>: </a:t>
            </a:r>
            <a:r>
              <a:rPr lang="ko-KR" altLang="en-US" sz="1000" dirty="0"/>
              <a:t>평균 </a:t>
            </a:r>
            <a:r>
              <a:rPr lang="en-US" altLang="ko-KR" sz="1000" dirty="0"/>
              <a:t>4.2</a:t>
            </a:r>
            <a:r>
              <a:rPr lang="ko-KR" altLang="en-US" sz="1000" dirty="0"/>
              <a:t>점</a:t>
            </a:r>
            <a:r>
              <a:rPr lang="en-US" altLang="ko-KR" sz="1000" dirty="0"/>
              <a:t>(</a:t>
            </a:r>
            <a:r>
              <a:rPr lang="ko-KR" altLang="en-US" sz="1000" dirty="0"/>
              <a:t>높음</a:t>
            </a:r>
            <a:r>
              <a:rPr lang="en-US" altLang="ko-KR" sz="1000" dirty="0"/>
              <a:t>)</a:t>
            </a:r>
            <a:r>
              <a:rPr lang="ko-KR" altLang="en-US" sz="1000" dirty="0"/>
              <a:t>으로 목표</a:t>
            </a:r>
            <a:r>
              <a:rPr lang="en-US" altLang="ko-KR" sz="1000" dirty="0"/>
              <a:t>(4.0)</a:t>
            </a:r>
            <a:r>
              <a:rPr lang="ko-KR" altLang="en-US" sz="1000" dirty="0"/>
              <a:t>를 상회합니다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핵심 수치</a:t>
            </a:r>
            <a:r>
              <a:rPr lang="en-US" altLang="ko-KR" sz="1000" dirty="0"/>
              <a:t>: </a:t>
            </a:r>
            <a:r>
              <a:rPr lang="ko-KR" altLang="en-US" sz="1000" dirty="0"/>
              <a:t>평균 </a:t>
            </a:r>
            <a:r>
              <a:rPr lang="en-US" altLang="ko-KR" sz="1000" dirty="0"/>
              <a:t>4.2</a:t>
            </a:r>
            <a:r>
              <a:rPr lang="ko-KR" altLang="en-US" sz="1000" dirty="0"/>
              <a:t>점</a:t>
            </a:r>
            <a:r>
              <a:rPr lang="en-US" altLang="ko-KR" sz="1000" dirty="0"/>
              <a:t>, N=410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해석</a:t>
            </a:r>
            <a:r>
              <a:rPr lang="en-US" altLang="ko-KR" sz="1000" dirty="0"/>
              <a:t>/</a:t>
            </a:r>
            <a:r>
              <a:rPr lang="ko-KR" altLang="en-US" sz="1000" dirty="0"/>
              <a:t>시사점</a:t>
            </a:r>
            <a:r>
              <a:rPr lang="en-US" altLang="ko-KR" sz="1000" dirty="0"/>
              <a:t>: </a:t>
            </a:r>
            <a:r>
              <a:rPr lang="ko-KR" altLang="en-US" sz="1000" dirty="0"/>
              <a:t>전반 만족은 양호하나 하위 코호트</a:t>
            </a:r>
            <a:r>
              <a:rPr lang="en-US" altLang="ko-KR" sz="1000" dirty="0"/>
              <a:t>(</a:t>
            </a:r>
            <a:r>
              <a:rPr lang="ko-KR" altLang="en-US" sz="1000" dirty="0"/>
              <a:t>모바일</a:t>
            </a:r>
            <a:r>
              <a:rPr lang="en-US" altLang="ko-KR" sz="1000" dirty="0"/>
              <a:t>, </a:t>
            </a:r>
            <a:r>
              <a:rPr lang="ko-KR" altLang="en-US" sz="1000" dirty="0"/>
              <a:t>신규</a:t>
            </a:r>
            <a:r>
              <a:rPr lang="en-US" altLang="ko-KR" sz="1000" dirty="0"/>
              <a:t>) </a:t>
            </a:r>
            <a:r>
              <a:rPr lang="ko-KR" altLang="en-US" sz="1000" dirty="0"/>
              <a:t>점검이 필요합니다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근거</a:t>
            </a:r>
            <a:r>
              <a:rPr lang="en-US" altLang="ko-KR" sz="1000" dirty="0"/>
              <a:t>: p.3 ‘</a:t>
            </a:r>
            <a:r>
              <a:rPr lang="ko-KR" altLang="en-US" sz="1000" dirty="0"/>
              <a:t>만족도 평균’</a:t>
            </a:r>
          </a:p>
          <a:p>
            <a:endParaRPr lang="ko-KR" altLang="en-US" sz="1000" dirty="0"/>
          </a:p>
          <a:p>
            <a:r>
              <a:rPr lang="en-US" altLang="ko-KR" sz="1000" dirty="0"/>
              <a:t>Q3. </a:t>
            </a:r>
            <a:r>
              <a:rPr lang="ko-KR" altLang="en-US" sz="1000" dirty="0"/>
              <a:t>상품 정보</a:t>
            </a:r>
            <a:r>
              <a:rPr lang="en-US" altLang="ko-KR" sz="1000" dirty="0"/>
              <a:t>(</a:t>
            </a:r>
            <a:r>
              <a:rPr lang="ko-KR" altLang="en-US" sz="1000" dirty="0"/>
              <a:t>상세</a:t>
            </a:r>
            <a:r>
              <a:rPr lang="en-US" altLang="ko-KR" sz="1000" dirty="0"/>
              <a:t>·</a:t>
            </a:r>
            <a:r>
              <a:rPr lang="ko-KR" altLang="en-US" sz="1000" dirty="0"/>
              <a:t>이미지</a:t>
            </a:r>
            <a:r>
              <a:rPr lang="en-US" altLang="ko-KR" sz="1000" dirty="0"/>
              <a:t>)</a:t>
            </a:r>
            <a:r>
              <a:rPr lang="ko-KR" altLang="en-US" sz="1000" dirty="0"/>
              <a:t>가 정확하고 충분했다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한 줄 결론</a:t>
            </a:r>
            <a:r>
              <a:rPr lang="en-US" altLang="ko-KR" sz="1000" dirty="0"/>
              <a:t>: </a:t>
            </a:r>
            <a:r>
              <a:rPr lang="ko-KR" altLang="en-US" sz="1000" dirty="0"/>
              <a:t>평균 </a:t>
            </a:r>
            <a:r>
              <a:rPr lang="en-US" altLang="ko-KR" sz="1000" dirty="0"/>
              <a:t>3.8</a:t>
            </a:r>
            <a:r>
              <a:rPr lang="ko-KR" altLang="en-US" sz="1000" dirty="0"/>
              <a:t>점</a:t>
            </a:r>
            <a:r>
              <a:rPr lang="en-US" altLang="ko-KR" sz="1000" dirty="0"/>
              <a:t>(</a:t>
            </a:r>
            <a:r>
              <a:rPr lang="ko-KR" altLang="en-US" sz="1000" dirty="0"/>
              <a:t>보통</a:t>
            </a:r>
            <a:r>
              <a:rPr lang="en-US" altLang="ko-KR" sz="1000" dirty="0"/>
              <a:t>)</a:t>
            </a:r>
            <a:r>
              <a:rPr lang="ko-KR" altLang="en-US" sz="1000" dirty="0"/>
              <a:t>으로 이미지</a:t>
            </a:r>
            <a:r>
              <a:rPr lang="en-US" altLang="ko-KR" sz="1000" dirty="0"/>
              <a:t>·</a:t>
            </a:r>
            <a:r>
              <a:rPr lang="ko-KR" altLang="en-US" sz="1000" dirty="0"/>
              <a:t>스펙 보강 여지가 큽니다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핵심 수치</a:t>
            </a:r>
            <a:r>
              <a:rPr lang="en-US" altLang="ko-KR" sz="1000" dirty="0"/>
              <a:t>: </a:t>
            </a:r>
            <a:r>
              <a:rPr lang="ko-KR" altLang="en-US" sz="1000" dirty="0"/>
              <a:t>평균 </a:t>
            </a:r>
            <a:r>
              <a:rPr lang="en-US" altLang="ko-KR" sz="1000" dirty="0"/>
              <a:t>3.8</a:t>
            </a:r>
            <a:r>
              <a:rPr lang="ko-KR" altLang="en-US" sz="1000" dirty="0"/>
              <a:t>점</a:t>
            </a:r>
            <a:r>
              <a:rPr lang="en-US" altLang="ko-KR" sz="1000" dirty="0"/>
              <a:t>, N=409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해석</a:t>
            </a:r>
            <a:r>
              <a:rPr lang="en-US" altLang="ko-KR" sz="1000" dirty="0"/>
              <a:t>/</a:t>
            </a:r>
            <a:r>
              <a:rPr lang="ko-KR" altLang="en-US" sz="1000" dirty="0"/>
              <a:t>시사점</a:t>
            </a:r>
            <a:r>
              <a:rPr lang="en-US" altLang="ko-KR" sz="1000" dirty="0"/>
              <a:t>: </a:t>
            </a:r>
            <a:r>
              <a:rPr lang="ko-KR" altLang="en-US" sz="1000" dirty="0"/>
              <a:t>정보 신뢰도는 구매 결정에 직접 영향합니다</a:t>
            </a:r>
            <a:r>
              <a:rPr lang="en-US" altLang="ko-KR" sz="1000" dirty="0"/>
              <a:t>. </a:t>
            </a:r>
            <a:r>
              <a:rPr lang="ko-KR" altLang="en-US" sz="1000" dirty="0"/>
              <a:t>표준 가이드 정비가 필요합니다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근거</a:t>
            </a:r>
            <a:r>
              <a:rPr lang="en-US" altLang="ko-KR" sz="1000" dirty="0"/>
              <a:t>: p.3 ‘</a:t>
            </a:r>
            <a:r>
              <a:rPr lang="ko-KR" altLang="en-US" sz="1000" dirty="0"/>
              <a:t>정보 </a:t>
            </a:r>
            <a:r>
              <a:rPr lang="ko-KR" altLang="en-US" sz="1000" dirty="0" err="1"/>
              <a:t>충실성</a:t>
            </a:r>
            <a:r>
              <a:rPr lang="ko-KR" altLang="en-US" sz="1000" dirty="0"/>
              <a:t>’</a:t>
            </a:r>
          </a:p>
          <a:p>
            <a:endParaRPr lang="ko-KR" altLang="en-US" sz="1000" dirty="0"/>
          </a:p>
          <a:p>
            <a:r>
              <a:rPr lang="en-US" altLang="ko-KR" sz="1000" dirty="0"/>
              <a:t>Q4. </a:t>
            </a:r>
            <a:r>
              <a:rPr lang="ko-KR" altLang="en-US" sz="1000" dirty="0"/>
              <a:t>배송 과정이 전반적으로 원활했다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한 줄 결론</a:t>
            </a:r>
            <a:r>
              <a:rPr lang="en-US" altLang="ko-KR" sz="1000" dirty="0"/>
              <a:t>: </a:t>
            </a:r>
            <a:r>
              <a:rPr lang="ko-KR" altLang="en-US" sz="1000" dirty="0"/>
              <a:t>평균 </a:t>
            </a:r>
            <a:r>
              <a:rPr lang="en-US" altLang="ko-KR" sz="1000" dirty="0"/>
              <a:t>3.6</a:t>
            </a:r>
            <a:r>
              <a:rPr lang="ko-KR" altLang="en-US" sz="1000" dirty="0"/>
              <a:t>점</a:t>
            </a:r>
            <a:r>
              <a:rPr lang="en-US" altLang="ko-KR" sz="1000" dirty="0"/>
              <a:t>(</a:t>
            </a:r>
            <a:r>
              <a:rPr lang="ko-KR" altLang="en-US" sz="1000" dirty="0"/>
              <a:t>보통</a:t>
            </a:r>
            <a:r>
              <a:rPr lang="en-US" altLang="ko-KR" sz="1000" dirty="0"/>
              <a:t>)</a:t>
            </a:r>
            <a:r>
              <a:rPr lang="ko-KR" altLang="en-US" sz="1000" dirty="0"/>
              <a:t>으로 프로세스 개선 필요 신호입니다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핵심 수치</a:t>
            </a:r>
            <a:r>
              <a:rPr lang="en-US" altLang="ko-KR" sz="1000" dirty="0"/>
              <a:t>: </a:t>
            </a:r>
            <a:r>
              <a:rPr lang="ko-KR" altLang="en-US" sz="1000" dirty="0"/>
              <a:t>평균 </a:t>
            </a:r>
            <a:r>
              <a:rPr lang="en-US" altLang="ko-KR" sz="1000" dirty="0"/>
              <a:t>3.6</a:t>
            </a:r>
            <a:r>
              <a:rPr lang="ko-KR" altLang="en-US" sz="1000" dirty="0"/>
              <a:t>점</a:t>
            </a:r>
            <a:r>
              <a:rPr lang="en-US" altLang="ko-KR" sz="1000" dirty="0"/>
              <a:t>, N=408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해석</a:t>
            </a:r>
            <a:r>
              <a:rPr lang="en-US" altLang="ko-KR" sz="1000" dirty="0"/>
              <a:t>/</a:t>
            </a:r>
            <a:r>
              <a:rPr lang="ko-KR" altLang="en-US" sz="1000" dirty="0"/>
              <a:t>시사점</a:t>
            </a:r>
            <a:r>
              <a:rPr lang="en-US" altLang="ko-KR" sz="1000" dirty="0"/>
              <a:t>: </a:t>
            </a:r>
            <a:r>
              <a:rPr lang="ko-KR" altLang="en-US" sz="1000" dirty="0"/>
              <a:t>배송 추적 </a:t>
            </a:r>
            <a:r>
              <a:rPr lang="en-US" altLang="ko-KR" sz="1000" dirty="0"/>
              <a:t>UI</a:t>
            </a:r>
            <a:r>
              <a:rPr lang="ko-KR" altLang="en-US" sz="1000" dirty="0"/>
              <a:t>와 약속일 고지가 불만의 주된 원인일 수 있습니다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근거</a:t>
            </a:r>
            <a:r>
              <a:rPr lang="en-US" altLang="ko-KR" sz="1000" dirty="0"/>
              <a:t>: p.3 ‘</a:t>
            </a:r>
            <a:r>
              <a:rPr lang="ko-KR" altLang="en-US" sz="1000" dirty="0"/>
              <a:t>배송’</a:t>
            </a:r>
          </a:p>
          <a:p>
            <a:endParaRPr lang="ko-KR" altLang="en-US" sz="1000" dirty="0"/>
          </a:p>
          <a:p>
            <a:r>
              <a:rPr lang="en-US" altLang="ko-KR" sz="1000" dirty="0"/>
              <a:t>Q5. </a:t>
            </a:r>
            <a:r>
              <a:rPr lang="ko-KR" altLang="en-US" sz="1000" dirty="0"/>
              <a:t>재구매</a:t>
            </a:r>
            <a:r>
              <a:rPr lang="en-US" altLang="ko-KR" sz="1000" dirty="0"/>
              <a:t>/</a:t>
            </a:r>
            <a:r>
              <a:rPr lang="ko-KR" altLang="en-US" sz="1000" dirty="0"/>
              <a:t>추천을 위해 개선되었으면 하는 점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한 줄 결론</a:t>
            </a:r>
            <a:r>
              <a:rPr lang="en-US" altLang="ko-KR" sz="1000" dirty="0"/>
              <a:t>: ‘</a:t>
            </a:r>
            <a:r>
              <a:rPr lang="ko-KR" altLang="en-US" sz="1000" dirty="0"/>
              <a:t>배송</a:t>
            </a:r>
            <a:r>
              <a:rPr lang="en-US" altLang="ko-KR" sz="1000" dirty="0"/>
              <a:t>/</a:t>
            </a:r>
            <a:r>
              <a:rPr lang="ko-KR" altLang="en-US" sz="1000" dirty="0"/>
              <a:t>환불’ 키워드 빈도가 높습니다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핵심 수치</a:t>
            </a:r>
            <a:r>
              <a:rPr lang="en-US" altLang="ko-KR" sz="1000" dirty="0"/>
              <a:t>: </a:t>
            </a:r>
            <a:r>
              <a:rPr lang="ko-KR" altLang="en-US" sz="1000" dirty="0"/>
              <a:t>배송 </a:t>
            </a:r>
            <a:r>
              <a:rPr lang="en-US" altLang="ko-KR" sz="1000" dirty="0"/>
              <a:t>23</a:t>
            </a:r>
            <a:r>
              <a:rPr lang="ko-KR" altLang="en-US" sz="1000" dirty="0"/>
              <a:t>건</a:t>
            </a:r>
            <a:r>
              <a:rPr lang="en-US" altLang="ko-KR" sz="1000" dirty="0"/>
              <a:t>, </a:t>
            </a:r>
            <a:r>
              <a:rPr lang="ko-KR" altLang="en-US" sz="1000" dirty="0"/>
              <a:t>환불 </a:t>
            </a:r>
            <a:r>
              <a:rPr lang="en-US" altLang="ko-KR" sz="1000" dirty="0"/>
              <a:t>9</a:t>
            </a:r>
            <a:r>
              <a:rPr lang="ko-KR" altLang="en-US" sz="1000" dirty="0"/>
              <a:t>건</a:t>
            </a:r>
            <a:r>
              <a:rPr lang="en-US" altLang="ko-KR" sz="1000" dirty="0"/>
              <a:t>(</a:t>
            </a:r>
            <a:r>
              <a:rPr lang="ko-KR" altLang="en-US" sz="1000" dirty="0"/>
              <a:t>수치 </a:t>
            </a:r>
            <a:r>
              <a:rPr lang="ko-KR" altLang="en-US" sz="1000" dirty="0" err="1"/>
              <a:t>미노출</a:t>
            </a:r>
            <a:r>
              <a:rPr lang="ko-KR" altLang="en-US" sz="1000" dirty="0"/>
              <a:t> 시 “</a:t>
            </a:r>
            <a:r>
              <a:rPr lang="en-US" altLang="ko-KR" sz="1000" dirty="0"/>
              <a:t>—”)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해석</a:t>
            </a:r>
            <a:r>
              <a:rPr lang="en-US" altLang="ko-KR" sz="1000" dirty="0"/>
              <a:t>/</a:t>
            </a:r>
            <a:r>
              <a:rPr lang="ko-KR" altLang="en-US" sz="1000" dirty="0"/>
              <a:t>시사점</a:t>
            </a:r>
            <a:r>
              <a:rPr lang="en-US" altLang="ko-KR" sz="1000" dirty="0"/>
              <a:t>: </a:t>
            </a:r>
            <a:r>
              <a:rPr lang="ko-KR" altLang="en-US" sz="1000" dirty="0"/>
              <a:t>체감 불편이 명확하므로 </a:t>
            </a:r>
            <a:r>
              <a:rPr lang="en-US" altLang="ko-KR" sz="1000" dirty="0"/>
              <a:t>CS/</a:t>
            </a:r>
            <a:r>
              <a:rPr lang="ko-KR" altLang="en-US" sz="1000" dirty="0"/>
              <a:t>배송 공정 개선이 우선입니다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근거</a:t>
            </a:r>
            <a:r>
              <a:rPr lang="en-US" altLang="ko-KR" sz="1000" dirty="0"/>
              <a:t>: p.4 ‘</a:t>
            </a:r>
            <a:r>
              <a:rPr lang="ko-KR" altLang="en-US" sz="1000" dirty="0"/>
              <a:t>자유 의견’</a:t>
            </a:r>
          </a:p>
          <a:p>
            <a:endParaRPr lang="ko-KR" altLang="en-US" sz="1000" dirty="0"/>
          </a:p>
          <a:p>
            <a:r>
              <a:rPr lang="ko-KR" altLang="en-US" sz="1000" dirty="0"/>
              <a:t>종합 인사이트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총평</a:t>
            </a:r>
            <a:r>
              <a:rPr lang="en-US" altLang="ko-KR" sz="1000" dirty="0"/>
              <a:t>: </a:t>
            </a:r>
            <a:r>
              <a:rPr lang="ko-KR" altLang="en-US" sz="1000" dirty="0"/>
              <a:t>전반 만족은 높으나 정보</a:t>
            </a:r>
            <a:r>
              <a:rPr lang="en-US" altLang="ko-KR" sz="1000" dirty="0"/>
              <a:t>·</a:t>
            </a:r>
            <a:r>
              <a:rPr lang="ko-KR" altLang="en-US" sz="1000" dirty="0"/>
              <a:t>배송 단계에서 이탈 위험이 보입니다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인사이트</a:t>
            </a:r>
          </a:p>
          <a:p>
            <a:r>
              <a:rPr lang="ko-KR" altLang="en-US" sz="1000" dirty="0"/>
              <a:t>  </a:t>
            </a:r>
            <a:r>
              <a:rPr lang="en-US" altLang="ko-KR" sz="1000" dirty="0"/>
              <a:t>• </a:t>
            </a:r>
            <a:r>
              <a:rPr lang="ko-KR" altLang="en-US" sz="1000" dirty="0"/>
              <a:t>구매 목적 비중이 높아 전환 </a:t>
            </a:r>
            <a:r>
              <a:rPr lang="ko-KR" altLang="en-US" sz="1000" dirty="0" err="1"/>
              <a:t>퍼널</a:t>
            </a:r>
            <a:r>
              <a:rPr lang="ko-KR" altLang="en-US" sz="1000" dirty="0"/>
              <a:t> 최적화 </a:t>
            </a:r>
            <a:r>
              <a:rPr lang="en-US" altLang="ko-KR" sz="1000" dirty="0"/>
              <a:t>ROI</a:t>
            </a:r>
            <a:r>
              <a:rPr lang="ko-KR" altLang="en-US" sz="1000" dirty="0"/>
              <a:t>가 큼</a:t>
            </a:r>
            <a:r>
              <a:rPr lang="en-US" altLang="ko-KR" sz="1000" dirty="0"/>
              <a:t>. (Impact High / Effort Medium)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상품 상세 이미지</a:t>
            </a:r>
            <a:r>
              <a:rPr lang="en-US" altLang="ko-KR" sz="1000" dirty="0"/>
              <a:t>·</a:t>
            </a:r>
            <a:r>
              <a:rPr lang="ko-KR" altLang="en-US" sz="1000" dirty="0"/>
              <a:t>스펙 표준화로 정보 신뢰도 개선 여지</a:t>
            </a:r>
            <a:r>
              <a:rPr lang="en-US" altLang="ko-KR" sz="1000" dirty="0"/>
              <a:t>. (Impact High / Effort Low)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배송 추적 가시성</a:t>
            </a:r>
            <a:r>
              <a:rPr lang="en-US" altLang="ko-KR" sz="1000" dirty="0"/>
              <a:t>/</a:t>
            </a:r>
            <a:r>
              <a:rPr lang="ko-KR" altLang="en-US" sz="1000" dirty="0"/>
              <a:t>약속일 명확화가 만족도 상향 레버</a:t>
            </a:r>
            <a:r>
              <a:rPr lang="en-US" altLang="ko-KR" sz="1000" dirty="0"/>
              <a:t>. (Impact High / Effort Medium)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이벤트 유입은 선택과 집중 필요</a:t>
            </a:r>
            <a:r>
              <a:rPr lang="en-US" altLang="ko-KR" sz="1000" dirty="0"/>
              <a:t>. (Impact Medium / Effort Low)</a:t>
            </a:r>
          </a:p>
          <a:p>
            <a:r>
              <a:rPr lang="en-US" altLang="ko-KR" sz="1000" dirty="0"/>
              <a:t>  • </a:t>
            </a:r>
            <a:r>
              <a:rPr lang="ko-KR" altLang="en-US" sz="1000" dirty="0"/>
              <a:t>하위 코호트</a:t>
            </a:r>
            <a:r>
              <a:rPr lang="en-US" altLang="ko-KR" sz="1000" dirty="0"/>
              <a:t>(</a:t>
            </a:r>
            <a:r>
              <a:rPr lang="ko-KR" altLang="en-US" sz="1000" dirty="0"/>
              <a:t>모바일</a:t>
            </a:r>
            <a:r>
              <a:rPr lang="en-US" altLang="ko-KR" sz="1000" dirty="0"/>
              <a:t>/</a:t>
            </a:r>
            <a:r>
              <a:rPr lang="ko-KR" altLang="en-US" sz="1000" dirty="0"/>
              <a:t>신규</a:t>
            </a:r>
            <a:r>
              <a:rPr lang="en-US" altLang="ko-KR" sz="1000" dirty="0"/>
              <a:t>) </a:t>
            </a:r>
            <a:r>
              <a:rPr lang="ko-KR" altLang="en-US" sz="1000" dirty="0"/>
              <a:t>별 점검 권장</a:t>
            </a:r>
            <a:r>
              <a:rPr lang="en-US" altLang="ko-KR" sz="1000" dirty="0"/>
              <a:t>. (Impact Medium / Effort Medium)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1576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9">
            <a:extLst>
              <a:ext uri="{FF2B5EF4-FFF2-40B4-BE49-F238E27FC236}">
                <a16:creationId xmlns:a16="http://schemas.microsoft.com/office/drawing/2014/main" id="{BD523FE0-449D-4D1B-83CB-11C289E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ko-KR" altLang="en-US" dirty="0"/>
              <a:t>▣ 프롬프트</a:t>
            </a:r>
            <a:r>
              <a:rPr lang="en-US" altLang="ko-KR" dirty="0"/>
              <a:t> (</a:t>
            </a:r>
            <a:r>
              <a:rPr lang="ko-KR" altLang="en-US" dirty="0"/>
              <a:t>설문조사결과분석</a:t>
            </a:r>
            <a:r>
              <a:rPr lang="en-US" altLang="ko-KR" dirty="0"/>
              <a:t>3)</a:t>
            </a:r>
            <a:endParaRPr lang="ko-KR" altLang="en-US" dirty="0"/>
          </a:p>
        </p:txBody>
      </p:sp>
      <p:pic>
        <p:nvPicPr>
          <p:cNvPr id="8" name="Picture 2" descr="D:\YJ\주문제작\LG\LG세탁기_북미\이미지\칸나누기.png">
            <a:extLst>
              <a:ext uri="{FF2B5EF4-FFF2-40B4-BE49-F238E27FC236}">
                <a16:creationId xmlns:a16="http://schemas.microsoft.com/office/drawing/2014/main" id="{B9D66F81-C0DC-4D45-995A-4EEAF0274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141" b="381"/>
          <a:stretch/>
        </p:blipFill>
        <p:spPr bwMode="auto">
          <a:xfrm rot="5400000" flipH="1">
            <a:off x="4391980" y="-3699284"/>
            <a:ext cx="360042" cy="914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5EDCCD-AC84-9A96-30DA-19CAF24DE63D}"/>
              </a:ext>
            </a:extLst>
          </p:cNvPr>
          <p:cNvSpPr txBox="1"/>
          <p:nvPr/>
        </p:nvSpPr>
        <p:spPr>
          <a:xfrm>
            <a:off x="259882" y="1446247"/>
            <a:ext cx="8426918" cy="3243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1200" dirty="0"/>
              <a:t>https://docs.google.com/spreadsheets/d/1J3dQl-zgsftOJ-SIB-LXIMAfk3LxJo6tljex0oHfdiI/edit?usp=sharing</a:t>
            </a:r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r>
              <a:rPr lang="ko-KR" altLang="en-US" sz="1200" dirty="0"/>
              <a:t>설문문항 디자이너</a:t>
            </a:r>
          </a:p>
          <a:p>
            <a:pPr>
              <a:lnSpc>
                <a:spcPct val="250000"/>
              </a:lnSpc>
            </a:pPr>
            <a:r>
              <a:rPr lang="en-US" altLang="ko-KR" sz="1200" dirty="0"/>
              <a:t>https://chatgpt.com/g/g-689c500ba41c81919faf67352c0e2960-gugeulsiteu-seolmunmunhang-dijaineo</a:t>
            </a:r>
          </a:p>
          <a:p>
            <a:pPr>
              <a:lnSpc>
                <a:spcPct val="250000"/>
              </a:lnSpc>
            </a:pPr>
            <a:endParaRPr lang="en-US" altLang="ko-KR" sz="1200" dirty="0"/>
          </a:p>
          <a:p>
            <a:pPr>
              <a:lnSpc>
                <a:spcPct val="250000"/>
              </a:lnSpc>
            </a:pPr>
            <a:r>
              <a:rPr lang="ko-KR" altLang="en-US" sz="1200" dirty="0"/>
              <a:t>설문문항결과분석</a:t>
            </a:r>
          </a:p>
          <a:p>
            <a:pPr>
              <a:lnSpc>
                <a:spcPct val="250000"/>
              </a:lnSpc>
            </a:pPr>
            <a:r>
              <a:rPr lang="en-US" altLang="ko-KR" sz="1200" dirty="0"/>
              <a:t>https://chatgpt.com/g/g-68ae9299c9e0819187b3a58febfc7ed5-seolmunjosagyeolgwabunseog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7514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32855</TotalTime>
  <Words>2099</Words>
  <Application>Microsoft Office PowerPoint</Application>
  <PresentationFormat>화면 슬라이드 쇼(4:3)</PresentationFormat>
  <Paragraphs>162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Arial Black</vt:lpstr>
      <vt:lpstr>Office 테마</vt:lpstr>
      <vt:lpstr>PowerPoint 프레젠테이션</vt:lpstr>
      <vt:lpstr>▣ 프롬프트</vt:lpstr>
      <vt:lpstr>▣ 프롬프트</vt:lpstr>
      <vt:lpstr>▣ 프롬프트(ChatGPT 맞춤 설정)</vt:lpstr>
      <vt:lpstr>▣ 프롬프트(설문문항 디자이너)</vt:lpstr>
      <vt:lpstr>▣ 프롬프트(설문조사결과분석1)</vt:lpstr>
      <vt:lpstr>▣ 프롬프트 (설문조사결과분석2)</vt:lpstr>
      <vt:lpstr>▣ 프롬프트 (설문조사결과분석3)</vt:lpstr>
      <vt:lpstr>▣ 프롬프트 (설문조사결과분석3)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JU</dc:creator>
  <cp:lastModifiedBy>허경욱</cp:lastModifiedBy>
  <cp:revision>375</cp:revision>
  <cp:lastPrinted>2021-11-04T11:10:52Z</cp:lastPrinted>
  <dcterms:created xsi:type="dcterms:W3CDTF">2013-08-28T07:35:45Z</dcterms:created>
  <dcterms:modified xsi:type="dcterms:W3CDTF">2025-08-27T07:37:35Z</dcterms:modified>
</cp:coreProperties>
</file>